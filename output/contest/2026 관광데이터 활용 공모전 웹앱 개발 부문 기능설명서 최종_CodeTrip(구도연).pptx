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aveSubsetFonts="1">
  <p:sldMasterIdLst>
    <p:sldMasterId id="2147483666"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prnPr scaleToFitPaper="1"/>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p="http://schemas.openxmlformats.org/presentation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TxStyle/>
      <a:tcStyle>
        <a:tcBdr/>
        <a:fill>
          <a:solidFill>
            <a:schemeClr val="accent1">
              <a:tint val="40000"/>
            </a:schemeClr>
          </a:solidFill>
        </a:fill>
      </a:tcStyle>
    </a:band1H>
    <a:band2H>
      <a:tcTxStyle/>
      <a:tcStyle>
        <a:tcBdr/>
      </a:tcStyle>
    </a:band2H>
    <a:band1V>
      <a:tcTxStyle/>
      <a:tcStyle>
        <a:tcBdr/>
        <a:fill>
          <a:solidFill>
            <a:schemeClr val="accent1">
              <a:tint val="40000"/>
            </a:schemeClr>
          </a:solidFill>
        </a:fill>
      </a:tcStyle>
    </a:band1V>
    <a:band2V>
      <a:tcTxStyle/>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horzBarState="maximized">
    <p:restoredLeft sz="8158" autoAdjust="0"/>
    <p:restoredTop sz="100000"/>
  </p:normalViewPr>
  <p:slideViewPr>
    <p:cSldViewPr snapToGrid="0">
      <p:cViewPr varScale="1">
        <p:scale>
          <a:sx n="100" d="100"/>
          <a:sy n="100" d="100"/>
        </p:scale>
        <p:origin x="936" y="396"/>
      </p:cViewPr>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presProps" Target="presProps.xml"  /><Relationship Id="rId16" Type="http://schemas.openxmlformats.org/officeDocument/2006/relationships/viewProps" Target="viewProps.xml"  /><Relationship Id="rId17" Type="http://schemas.openxmlformats.org/officeDocument/2006/relationships/theme" Target="theme/theme1.xml"  /><Relationship Id="rId18" Type="http://schemas.openxmlformats.org/officeDocument/2006/relationships/tableStyles" Target="tableStyles.xml"  /><Relationship Id="rId2" Type="http://schemas.openxmlformats.org/officeDocument/2006/relationships/notesMaster" Target="notesMasters/notesMaster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idx="0"/>
          </p:nvPr>
        </p:nvSpPr>
        <p:spPr>
          <a:xfrm>
            <a:off x="0" y="0"/>
            <a:ext cx="2971800" cy="458788"/>
          </a:xfrm>
          <a:prstGeom prst="rect">
            <a:avLst/>
          </a:prstGeom>
        </p:spPr>
        <p:txBody>
          <a:bodyPr vert="horz" lIns="91440" tIns="45720" rIns="91440" bIns="45720"/>
          <a:lstStyle>
            <a:lvl1pPr algn="l">
              <a:defRPr sz="1200"/>
            </a:lvl1pPr>
          </a:lstStyle>
          <a:p>
            <a:pPr lvl="0">
              <a:defRPr/>
            </a:pPr>
            <a:r>
              <a:rPr lang="ko-KR" altLang="en-US"/>
              <a:t/>
            </a:r>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pPr lvl="0">
              <a:defRPr/>
            </a:pPr>
            <a:fld id="{FB3549DB-4EF3-40B0-A785-8572249070D6}" type="datetime1">
              <a:rPr lang="ko-KR" altLang="en-US"/>
              <a:pPr lvl="0">
                <a:defRPr/>
              </a:pPr>
              <a:t>2026-09-18</a:t>
            </a:fld>
            <a:endParaRPr lang="ko-KR" altLang="en-US"/>
          </a:p>
        </p:txBody>
      </p:sp>
      <p:sp>
        <p:nvSpPr>
          <p:cNvPr id="4" name="슬라이드 이미지 개체 틀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anchor="ctr"/>
          <a:lstStyle/>
          <a:p>
            <a:pPr lvl="0">
              <a:defRPr/>
            </a:pPr>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a:lstStyle/>
          <a:p>
            <a:pPr lvl="0">
              <a:defRPr/>
            </a:pPr>
            <a:r>
              <a:rPr lang="ko-KR" altLang="en-US"/>
              <a:t>마스터 텍스트 스타일 편집</a:t>
            </a:r>
            <a:endParaRPr lang="ko-KR" altLang="en-US"/>
          </a:p>
          <a:p>
            <a:pPr lvl="1">
              <a:defRPr/>
            </a:pPr>
            <a:r>
              <a:rPr lang="ko-KR" altLang="en-US"/>
              <a:t>둘째 수준</a:t>
            </a:r>
            <a:endParaRPr lang="ko-KR" altLang="en-US"/>
          </a:p>
          <a:p>
            <a:pPr lvl="2">
              <a:defRPr/>
            </a:pPr>
            <a:r>
              <a:rPr lang="ko-KR" altLang="en-US"/>
              <a:t>셋째 수준</a:t>
            </a:r>
            <a:endParaRPr lang="ko-KR" altLang="en-US"/>
          </a:p>
          <a:p>
            <a:pPr lvl="3">
              <a:defRPr/>
            </a:pPr>
            <a:r>
              <a:rPr lang="ko-KR" altLang="en-US"/>
              <a:t>넷째 수준</a:t>
            </a:r>
            <a:endParaRPr lang="ko-KR" altLang="en-US"/>
          </a:p>
          <a:p>
            <a:pPr lvl="4">
              <a:defRPr/>
            </a:pPr>
            <a:r>
              <a:rPr lang="ko-KR" altLang="en-US"/>
              <a:t>다섯째 수준</a:t>
            </a:r>
            <a:endParaRPr lang="ko-KR" alt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anchor="b"/>
          <a:lstStyle>
            <a:lvl1pPr algn="l">
              <a:defRPr sz="1200"/>
            </a:lvl1pPr>
          </a:lstStyle>
          <a:p>
            <a:pPr lvl="0">
              <a:defRPr/>
            </a:pPr>
            <a:r>
              <a:rPr lang="ko-KR" altLang="en-US"/>
              <a:t/>
            </a:r>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anchor="b"/>
          <a:lstStyle>
            <a:lvl1pPr algn="r">
              <a:defRPr sz="1200"/>
            </a:lvl1pPr>
          </a:lstStyle>
          <a:p>
            <a:pPr lvl="0">
              <a:defRPr/>
            </a:pPr>
            <a:fld id="{FE4097B3-0D7D-4E86-933F-EBF9BA5F97E0}" type="slidenum">
              <a:rPr lang="ko-KR" altLang="en-US"/>
              <a:pPr lvl="0">
                <a:defRPr/>
              </a:pPr>
              <a:t>‹#›</a:t>
            </a:fld>
            <a:endParaRPr lang="ko-KR"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image" Target="../media/image1.png"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image" Target="../media/image2.png"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image" Target="../media/image3.png"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image" Target="../media/image4.png"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image" Target="../media/image5.png"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image" Target="../media/image6.png"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image" Target="../media/image7.png"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표지">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65710554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서비스 소개">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353622321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지역 특화 서비스 구현 세부내용">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0" y="0"/>
            <a:ext cx="12192000" cy="6840835"/>
          </a:xfrm>
          <a:prstGeom prst="rect">
            <a:avLst/>
          </a:prstGeom>
        </p:spPr>
      </p:pic>
    </p:spTree>
    <p:extLst>
      <p:ext uri="{BB962C8B-B14F-4D97-AF65-F5344CB8AC3E}">
        <p14:creationId xmlns:p14="http://schemas.microsoft.com/office/powerpoint/2010/main" val="367999864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서비스 핵심 기능별 흐름도">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13438" y="18574"/>
            <a:ext cx="12165123" cy="6839426"/>
          </a:xfrm>
          <a:prstGeom prst="rect">
            <a:avLst/>
          </a:prstGeom>
        </p:spPr>
      </p:pic>
    </p:spTree>
    <p:extLst>
      <p:ext uri="{BB962C8B-B14F-4D97-AF65-F5344CB8AC3E}">
        <p14:creationId xmlns:p14="http://schemas.microsoft.com/office/powerpoint/2010/main" val="143966490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데이터 활용(한국관광공사 OpenAPI)">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3912" y="13811"/>
            <a:ext cx="12184175" cy="6830378"/>
          </a:xfrm>
          <a:prstGeom prst="rect">
            <a:avLst/>
          </a:prstGeom>
        </p:spPr>
      </p:pic>
    </p:spTree>
    <p:extLst>
      <p:ext uri="{BB962C8B-B14F-4D97-AF65-F5344CB8AC3E}">
        <p14:creationId xmlns:p14="http://schemas.microsoft.com/office/powerpoint/2010/main" val="2561228989"/>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데이터 활용(기타)">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8675" y="9047"/>
            <a:ext cx="12174649" cy="6839905"/>
          </a:xfrm>
          <a:prstGeom prst="rect">
            <a:avLst/>
          </a:prstGeom>
        </p:spPr>
      </p:pic>
    </p:spTree>
    <p:extLst>
      <p:ext uri="{BB962C8B-B14F-4D97-AF65-F5344CB8AC3E}">
        <p14:creationId xmlns:p14="http://schemas.microsoft.com/office/powerpoint/2010/main" val="350983382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서비스 차별성&amp;발전계획">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3912" y="4284"/>
            <a:ext cx="12184175" cy="6849431"/>
          </a:xfrm>
          <a:prstGeom prst="rect">
            <a:avLst/>
          </a:prstGeom>
        </p:spPr>
      </p:pic>
    </p:spTree>
    <p:extLst>
      <p:ext uri="{BB962C8B-B14F-4D97-AF65-F5344CB8AC3E}">
        <p14:creationId xmlns:p14="http://schemas.microsoft.com/office/powerpoint/2010/main" val="145924939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4A38FB6A-844E-4645-B6B8-D2945F9927BB}" type="datetimeFigureOut">
              <a:rPr lang="ko-KR" altLang="en-US" smtClean="0"/>
              <a:t>2026-07-29</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38832701-68F9-4777-ABB9-C14E97591467}" type="slidenum">
              <a:rPr lang="ko-KR" altLang="en-US" smtClean="0"/>
              <a:t>‹#›</a:t>
            </a:fld>
            <a:endParaRPr lang="ko-KR" altLang="en-US"/>
          </a:p>
        </p:txBody>
      </p:sp>
      <p:grpSp>
        <p:nvGrpSpPr>
          <p:cNvPr id="14" name="그룹 13"/>
          <p:cNvGrpSpPr/>
          <p:nvPr userDrawn="1"/>
        </p:nvGrpSpPr>
        <p:grpSpPr>
          <a:xfrm>
            <a:off x="189807" y="256797"/>
            <a:ext cx="11812386" cy="580915"/>
            <a:chOff x="189807" y="256797"/>
            <a:chExt cx="11812386" cy="580915"/>
          </a:xfrm>
        </p:grpSpPr>
        <p:grpSp>
          <p:nvGrpSpPr>
            <p:cNvPr id="10" name="그룹 9"/>
            <p:cNvGrpSpPr/>
            <p:nvPr/>
          </p:nvGrpSpPr>
          <p:grpSpPr>
            <a:xfrm>
              <a:off x="8161715" y="256797"/>
              <a:ext cx="3840478" cy="340519"/>
              <a:chOff x="6733312" y="182882"/>
              <a:chExt cx="3840478" cy="340519"/>
            </a:xfrm>
          </p:grpSpPr>
          <p:sp>
            <p:nvSpPr>
              <p:cNvPr id="12" name="TextBox 11"/>
              <p:cNvSpPr txBox="1"/>
              <p:nvPr/>
            </p:nvSpPr>
            <p:spPr>
              <a:xfrm>
                <a:off x="6733312" y="182882"/>
                <a:ext cx="2419001" cy="340519"/>
              </a:xfrm>
              <a:prstGeom prst="roundRect">
                <a:avLst/>
              </a:prstGeom>
              <a:solidFill>
                <a:srgbClr val="FF6F00"/>
              </a:solidFill>
            </p:spPr>
            <p:txBody>
              <a:bodyPr wrap="square" rtlCol="0">
                <a:spAutoFit/>
              </a:bodyPr>
              <a:lstStyle/>
              <a:p>
                <a:pPr algn="ctr"/>
                <a:r>
                  <a:rPr lang="en-US" altLang="ko-KR" sz="1400" dirty="0" smtClean="0">
                    <a:solidFill>
                      <a:schemeClr val="bg1"/>
                    </a:solidFill>
                    <a:latin typeface="Noto Sans KR Medium" panose="020B0600000000000000" pitchFamily="34" charset="-127"/>
                    <a:ea typeface="Noto Sans KR Medium" panose="020B0600000000000000" pitchFamily="34" charset="-127"/>
                  </a:rPr>
                  <a:t>2026 </a:t>
                </a:r>
                <a:r>
                  <a:rPr lang="ko-KR" altLang="en-US" sz="1400" dirty="0" smtClean="0">
                    <a:solidFill>
                      <a:schemeClr val="bg1"/>
                    </a:solidFill>
                    <a:latin typeface="Noto Sans KR Medium" panose="020B0600000000000000" pitchFamily="34" charset="-127"/>
                    <a:ea typeface="Noto Sans KR Medium" panose="020B0600000000000000" pitchFamily="34" charset="-127"/>
                  </a:rPr>
                  <a:t>관광데이터 활용 공모전</a:t>
                </a:r>
                <a:endParaRPr lang="ko-KR" altLang="en-US" sz="1400" dirty="0">
                  <a:solidFill>
                    <a:schemeClr val="bg1"/>
                  </a:solidFill>
                  <a:latin typeface="Noto Sans KR Medium" panose="020B0600000000000000" pitchFamily="34" charset="-127"/>
                  <a:ea typeface="Noto Sans KR Medium" panose="020B0600000000000000" pitchFamily="34" charset="-127"/>
                </a:endParaRPr>
              </a:p>
            </p:txBody>
          </p:sp>
          <p:sp>
            <p:nvSpPr>
              <p:cNvPr id="13" name="TextBox 12"/>
              <p:cNvSpPr txBox="1"/>
              <p:nvPr/>
            </p:nvSpPr>
            <p:spPr>
              <a:xfrm>
                <a:off x="9246526" y="182882"/>
                <a:ext cx="1327264" cy="340519"/>
              </a:xfrm>
              <a:prstGeom prst="roundRect">
                <a:avLst/>
              </a:prstGeom>
              <a:solidFill>
                <a:srgbClr val="FFFDE7"/>
              </a:solidFill>
            </p:spPr>
            <p:txBody>
              <a:bodyPr wrap="square" rtlCol="0">
                <a:spAutoFit/>
              </a:bodyPr>
              <a:lstStyle/>
              <a:p>
                <a:pPr algn="ctr"/>
                <a:r>
                  <a:rPr lang="ko-KR" altLang="en-US" sz="1400" dirty="0" smtClean="0">
                    <a:latin typeface="Noto Sans KR Medium" panose="020B0600000000000000" pitchFamily="34" charset="-127"/>
                    <a:ea typeface="Noto Sans KR Medium" panose="020B0600000000000000" pitchFamily="34" charset="-127"/>
                  </a:rPr>
                  <a:t>웹〮앱 개발 부문</a:t>
                </a:r>
                <a:endParaRPr lang="ko-KR" altLang="en-US" sz="1400" dirty="0">
                  <a:latin typeface="Noto Sans KR Medium" panose="020B0600000000000000" pitchFamily="34" charset="-127"/>
                  <a:ea typeface="Noto Sans KR Medium" panose="020B0600000000000000" pitchFamily="34" charset="-127"/>
                </a:endParaRPr>
              </a:p>
            </p:txBody>
          </p:sp>
        </p:grpSp>
        <p:sp>
          <p:nvSpPr>
            <p:cNvPr id="11" name="직사각형 10"/>
            <p:cNvSpPr/>
            <p:nvPr/>
          </p:nvSpPr>
          <p:spPr>
            <a:xfrm>
              <a:off x="189807" y="791993"/>
              <a:ext cx="11812386" cy="45719"/>
            </a:xfrm>
            <a:prstGeom prst="rect">
              <a:avLst/>
            </a:prstGeom>
            <a:solidFill>
              <a:srgbClr val="FF6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39394489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38FB6A-844E-4645-B6B8-D2945F9927BB}" type="datetimeFigureOut">
              <a:rPr lang="ko-KR" altLang="en-US" smtClean="0"/>
              <a:t>2026-07-29</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832701-68F9-4777-ABB9-C14E97591467}" type="slidenum">
              <a:rPr lang="ko-KR" altLang="en-US" smtClean="0"/>
              <a:t>‹#›</a:t>
            </a:fld>
            <a:endParaRPr lang="ko-KR" altLang="en-US"/>
          </a:p>
        </p:txBody>
      </p:sp>
    </p:spTree>
    <p:extLst>
      <p:ext uri="{BB962C8B-B14F-4D97-AF65-F5344CB8AC3E}">
        <p14:creationId xmlns:p14="http://schemas.microsoft.com/office/powerpoint/2010/main" val="2217332544"/>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60" r:id="rId3"/>
    <p:sldLayoutId id="2147483661" r:id="rId4"/>
    <p:sldLayoutId id="2147483662" r:id="rId5"/>
    <p:sldLayoutId id="2147483663" r:id="rId6"/>
    <p:sldLayoutId id="2147483664" r:id="rId7"/>
    <p:sldLayoutId id="2147483665" r:id="rId8"/>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 Id="rId3" Type="http://schemas.openxmlformats.org/officeDocument/2006/relationships/image" Target="../media/image9.png"  /><Relationship Id="rId4" Type="http://schemas.openxmlformats.org/officeDocument/2006/relationships/image" Target="../media/image10.png"  /><Relationship Id="rId5" Type="http://schemas.openxmlformats.org/officeDocument/2006/relationships/image" Target="../media/image11.png"  /><Relationship Id="rId6" Type="http://schemas.openxmlformats.org/officeDocument/2006/relationships/image" Target="../media/image12.png"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3.png"  /><Relationship Id="rId3" Type="http://schemas.openxmlformats.org/officeDocument/2006/relationships/image" Target="../media/image14.png"  /><Relationship Id="rId4" Type="http://schemas.openxmlformats.org/officeDocument/2006/relationships/image" Target="../media/image15.png"  /><Relationship Id="rId5" Type="http://schemas.openxmlformats.org/officeDocument/2006/relationships/image" Target="../media/image16.png"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7.png"  /><Relationship Id="rId3" Type="http://schemas.openxmlformats.org/officeDocument/2006/relationships/image" Target="../media/image18.png"  /><Relationship Id="rId4" Type="http://schemas.openxmlformats.org/officeDocument/2006/relationships/image" Target="../media/image19.png"  /><Relationship Id="rId5" Type="http://schemas.openxmlformats.org/officeDocument/2006/relationships/image" Target="../media/image20.png"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1.png"  /><Relationship Id="rId3" Type="http://schemas.openxmlformats.org/officeDocument/2006/relationships/image" Target="../media/image22.png"  /><Relationship Id="rId4" Type="http://schemas.openxmlformats.org/officeDocument/2006/relationships/image" Target="../media/image23.png"  /><Relationship Id="rId5" Type="http://schemas.openxmlformats.org/officeDocument/2006/relationships/image" Target="../media/image24.png"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5.png"  /><Relationship Id="rId3" Type="http://schemas.openxmlformats.org/officeDocument/2006/relationships/image" Target="../media/image26.png"  /><Relationship Id="rId4" Type="http://schemas.openxmlformats.org/officeDocument/2006/relationships/image" Target="../media/image27.png"  /><Relationship Id="rId5" Type="http://schemas.openxmlformats.org/officeDocument/2006/relationships/image" Target="../media/image28.png"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9.png"  /><Relationship Id="rId3" Type="http://schemas.openxmlformats.org/officeDocument/2006/relationships/image" Target="../media/image16.png"  /><Relationship Id="rId4" Type="http://schemas.openxmlformats.org/officeDocument/2006/relationships/image" Target="../media/image30.png"  /><Relationship Id="rId5" Type="http://schemas.openxmlformats.org/officeDocument/2006/relationships/image" Target="../media/image31.png"  /><Relationship Id="rId6" Type="http://schemas.openxmlformats.org/officeDocument/2006/relationships/image" Target="../media/image32.png"  /><Relationship Id="rId7" Type="http://schemas.openxmlformats.org/officeDocument/2006/relationships/image" Target="../media/image33.png"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graphicFrame>
        <p:nvGraphicFramePr>
          <p:cNvPr id="6" name="표 5"/>
          <p:cNvGraphicFramePr>
            <a:graphicFrameLocks noGrp="1"/>
          </p:cNvGraphicFramePr>
          <p:nvPr/>
        </p:nvGraphicFramePr>
        <p:xfrm>
          <a:off x="527397" y="4563687"/>
          <a:ext cx="6713124" cy="1277407"/>
        </p:xfrm>
        <a:graphic>
          <a:graphicData uri="http://schemas.openxmlformats.org/drawingml/2006/table">
            <a:tbl>
              <a:tblPr firstRow="1" bandRow="1">
                <a:tableStyleId>{5C22544A-7EE6-4342-B048-85BDC9FD1C3A}</a:tableStyleId>
              </a:tblPr>
              <a:tblGrid>
                <a:gridCol w="1891569"/>
                <a:gridCol w="4821555"/>
              </a:tblGrid>
              <a:tr h="547792">
                <a:tc>
                  <a:txBody>
                    <a:bodyPr vert="horz" lIns="91440" tIns="45720" rIns="91440" bIns="45720" anchor="ctr" anchorCtr="0"/>
                    <a:p>
                      <a:pPr algn="ctr" latinLnBrk="1">
                        <a:defRPr/>
                      </a:pPr>
                      <a:r>
                        <a:rPr lang="ko-KR" altLang="en-US" sz="2400" b="1">
                          <a:solidFill>
                            <a:schemeClr val="bg1"/>
                          </a:solidFill>
                        </a:rPr>
                        <a:t>팀 명</a:t>
                      </a:r>
                      <a:endParaRPr lang="ko-KR" altLang="en-US" sz="2400" b="1">
                        <a:solidFill>
                          <a:schemeClr val="bg1"/>
                        </a:solidFill>
                      </a:endParaRPr>
                    </a:p>
                  </a:txBody>
                  <a:tcPr marL="91440" marR="91440" anchor="ctr">
                    <a:lnR w="12700" cap="flat" cmpd="sng" algn="ctr">
                      <a:solidFill>
                        <a:schemeClr val="bg1">
                          <a:lumMod val="85000"/>
                        </a:schemeClr>
                      </a:solidFill>
                      <a:prstDash val="solid"/>
                      <a:round/>
                    </a:lnR>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latinLnBrk="1">
                        <a:defRPr/>
                      </a:pPr>
                      <a:r>
                        <a:rPr lang="en-US" altLang="ko-KR" sz="2100" b="0">
                          <a:solidFill>
                            <a:schemeClr val="tx1"/>
                          </a:solidFill>
                        </a:rPr>
                        <a:t>CodeTrip</a:t>
                      </a:r>
                      <a:endParaRPr lang="en-US" altLang="ko-KR" sz="2100" b="0">
                        <a:solidFill>
                          <a:schemeClr val="tx1"/>
                        </a:solidFill>
                      </a:endParaRPr>
                    </a:p>
                  </a:txBody>
                  <a:tcPr marL="91440" marR="91440" anchor="ctr">
                    <a:lnL w="12700" cap="flat" cmpd="sng" algn="ctr">
                      <a:solidFill>
                        <a:schemeClr val="bg1">
                          <a:lumMod val="85000"/>
                        </a:schemeClr>
                      </a:solidFill>
                      <a:prstDash val="solid"/>
                      <a:round/>
                    </a:lnL>
                    <a:lnB w="12700" cap="flat" cmpd="sng" algn="ctr">
                      <a:solidFill>
                        <a:schemeClr val="bg1">
                          <a:lumMod val="85000"/>
                        </a:schemeClr>
                      </a:solidFill>
                      <a:prstDash val="solid"/>
                      <a:round/>
                    </a:lnB>
                    <a:solidFill>
                      <a:srgbClr val="fffde7"/>
                    </a:solidFill>
                  </a:tcPr>
                </a:tc>
              </a:tr>
              <a:tr h="564418">
                <a:tc>
                  <a:txBody>
                    <a:bodyPr vert="horz" lIns="91440" tIns="45720" rIns="91440" bIns="45720" anchor="ctr" anchorCtr="0"/>
                    <a:p>
                      <a:pPr algn="ctr" latinLnBrk="1">
                        <a:defRPr/>
                      </a:pPr>
                      <a:r>
                        <a:rPr lang="ko-KR" altLang="en-US" sz="2400" b="1">
                          <a:solidFill>
                            <a:schemeClr val="bg1"/>
                          </a:solidFill>
                        </a:rPr>
                        <a:t>서비스</a:t>
                      </a:r>
                      <a:r>
                        <a:rPr lang="ko-KR" altLang="en-US" sz="2400" b="1" baseline="0">
                          <a:solidFill>
                            <a:schemeClr val="bg1"/>
                          </a:solidFill>
                        </a:rPr>
                        <a:t> </a:t>
                      </a:r>
                      <a:r>
                        <a:rPr lang="ko-KR" altLang="en-US" sz="2400" b="1">
                          <a:solidFill>
                            <a:schemeClr val="bg1"/>
                          </a:solidFill>
                        </a:rPr>
                        <a:t>명</a:t>
                      </a:r>
                      <a:endParaRPr lang="ko-KR" altLang="en-US" sz="2400" b="1">
                        <a:solidFill>
                          <a:schemeClr val="bg1"/>
                        </a:solidFill>
                      </a:endParaRPr>
                    </a:p>
                  </a:txBody>
                  <a:tcPr marL="91440" marR="91440" anchor="ctr">
                    <a:lnR w="12700" cap="flat" cmpd="sng" algn="ctr">
                      <a:solidFill>
                        <a:schemeClr val="bg1">
                          <a:lumMod val="85000"/>
                        </a:schemeClr>
                      </a:solidFill>
                      <a:prstDash val="solid"/>
                      <a:round/>
                    </a:lnR>
                    <a:lnT w="12700" cap="flat" cmpd="sng" algn="ctr">
                      <a:solidFill>
                        <a:schemeClr val="bg1">
                          <a:lumMod val="85000"/>
                        </a:schemeClr>
                      </a:solidFill>
                      <a:prstDash val="solid"/>
                      <a:round/>
                    </a:lnT>
                    <a:solidFill>
                      <a:srgbClr val="ffa401"/>
                    </a:solidFill>
                  </a:tcPr>
                </a:tc>
                <a:tc>
                  <a:txBody>
                    <a:bodyPr vert="horz" lIns="91440" tIns="45720" rIns="91440" bIns="45720" anchor="ctr" anchorCtr="0"/>
                    <a:p>
                      <a:pPr latinLnBrk="1">
                        <a:defRPr/>
                      </a:pPr>
                      <a:r>
                        <a:rPr lang="ko-KR" altLang="en-US" sz="2100" b="0">
                          <a:solidFill>
                            <a:schemeClr val="tx1"/>
                          </a:solidFill>
                        </a:rPr>
                        <a:t>공공 관광데이터·AI 기반 개인화 여행 큐레이션 웹 서비스</a:t>
                      </a:r>
                      <a:endParaRPr lang="ko-KR" altLang="en-US" sz="2100" b="0">
                        <a:solidFill>
                          <a:schemeClr val="tx1"/>
                        </a:solidFill>
                      </a:endParaRPr>
                    </a:p>
                  </a:txBody>
                  <a:tcPr marL="91440" marR="91440" anchor="ctr">
                    <a:lnL w="12700" cap="flat" cmpd="sng" algn="ctr">
                      <a:solidFill>
                        <a:schemeClr val="bg1">
                          <a:lumMod val="85000"/>
                        </a:schemeClr>
                      </a:solidFill>
                      <a:prstDash val="solid"/>
                      <a:round/>
                    </a:lnL>
                    <a:lnT w="12700" cap="flat" cmpd="sng" algn="ctr">
                      <a:solidFill>
                        <a:schemeClr val="bg1">
                          <a:lumMod val="85000"/>
                        </a:schemeClr>
                      </a:solidFill>
                      <a:prstDash val="solid"/>
                      <a:round/>
                    </a:lnT>
                    <a:solidFill>
                      <a:srgbClr val="fffde7"/>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graphicFrame>
        <p:nvGraphicFramePr>
          <p:cNvPr id="17" name="표 16"/>
          <p:cNvGraphicFramePr>
            <a:graphicFrameLocks noGrp="1"/>
          </p:cNvGraphicFramePr>
          <p:nvPr/>
        </p:nvGraphicFramePr>
        <p:xfrm>
          <a:off x="287250" y="1218429"/>
          <a:ext cx="11649825" cy="4750109"/>
        </p:xfrm>
        <a:graphic>
          <a:graphicData uri="http://schemas.openxmlformats.org/drawingml/2006/table">
            <a:tbl>
              <a:tblPr firstRow="1" bandRow="1">
                <a:tableStyleId>{5C22544A-7EE6-4342-B048-85BDC9FD1C3A}</a:tableStyleId>
              </a:tblPr>
              <a:tblGrid>
                <a:gridCol w="1955222"/>
                <a:gridCol w="9694603"/>
              </a:tblGrid>
              <a:tr h="547212">
                <a:tc>
                  <a:txBody>
                    <a:bodyPr vert="horz" lIns="91440" tIns="45720" rIns="91440" bIns="45720" anchor="ctr" anchorCtr="0"/>
                    <a:p>
                      <a:pPr algn="ctr" latinLnBrk="1">
                        <a:defRPr/>
                      </a:pPr>
                      <a:r>
                        <a:rPr lang="ko-KR" altLang="en-US" b="1">
                          <a:solidFill>
                            <a:schemeClr val="bg1"/>
                          </a:solidFill>
                        </a:rPr>
                        <a:t>서비스명</a:t>
                      </a:r>
                      <a:endParaRPr lang="ko-KR" altLang="en-US"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6f00"/>
                    </a:solidFill>
                  </a:tcPr>
                </a:tc>
                <a:tc>
                  <a:txBody>
                    <a:bodyPr vert="horz" lIns="91440" tIns="45720" rIns="91440" bIns="45720" anchor="ctr" anchorCtr="0"/>
                    <a:p>
                      <a:pPr latinLnBrk="1">
                        <a:defRPr/>
                      </a:pPr>
                      <a:r>
                        <a:rPr lang="en-US" altLang="ko-KR" sz="1800" b="0" baseline="0">
                          <a:solidFill>
                            <a:schemeClr val="tx1"/>
                          </a:solidFill>
                          <a:latin typeface="+mn-lt"/>
                        </a:rPr>
                        <a:t>CodeTrip(</a:t>
                      </a:r>
                      <a:r>
                        <a:rPr lang="ko-KR" altLang="en-US" b="0">
                          <a:solidFill>
                            <a:schemeClr val="tx1"/>
                          </a:solidFill>
                        </a:rPr>
                        <a:t>React 기반 사용자 맞춤 즉흥 여행 큐레이션 웹 서비스 플랫폼</a:t>
                      </a:r>
                      <a:r>
                        <a:rPr lang="en-US" altLang="ko-KR" sz="1800" b="0" baseline="0">
                          <a:solidFill>
                            <a:schemeClr val="tx1"/>
                          </a:solidFill>
                          <a:latin typeface="+mn-lt"/>
                        </a:rPr>
                        <a:t>)</a:t>
                      </a:r>
                      <a:endParaRPr lang="en-US" altLang="ko-KR" sz="1800" b="0" baseline="0">
                        <a:solidFill>
                          <a:schemeClr val="tx1"/>
                        </a:solidFill>
                        <a:latin typeface="+mn-lt"/>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731060">
                <a:tc>
                  <a:txBody>
                    <a:bodyPr vert="horz" lIns="91440" tIns="45720" rIns="91440" bIns="45720" anchor="ctr" anchorCtr="0"/>
                    <a:p>
                      <a:pPr algn="ctr" latinLnBrk="1">
                        <a:defRPr/>
                      </a:pPr>
                      <a:r>
                        <a:rPr lang="ko-KR" altLang="en-US" b="1">
                          <a:solidFill>
                            <a:schemeClr val="bg1"/>
                          </a:solidFill>
                        </a:rPr>
                        <a:t>서비스 유형</a:t>
                      </a:r>
                      <a:endParaRPr lang="ko-KR" altLang="en-US"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6f00"/>
                    </a:solidFill>
                  </a:tcPr>
                </a:tc>
                <a:tc>
                  <a:txBody>
                    <a:bodyPr vert="horz" lIns="91440" tIns="45720" rIns="91440" bIns="45720" anchor="ctr" anchorCtr="0"/>
                    <a:p>
                      <a:pPr marL="0" lvl="0" indent="0" algn="just" rtl="0">
                        <a:spcBef>
                          <a:spcPts val="0"/>
                        </a:spcBef>
                        <a:spcAft>
                          <a:spcPts val="0"/>
                        </a:spcAft>
                        <a:buNone/>
                        <a:defRPr/>
                      </a:pPr>
                      <a:r>
                        <a:rPr lang="ko-KR" altLang="en-US" b="0" baseline="0">
                          <a:solidFill>
                            <a:schemeClr val="tx1"/>
                          </a:solidFill>
                          <a:latin typeface="+mn-lt"/>
                        </a:rPr>
                        <a:t>웹</a:t>
                      </a:r>
                      <a:r>
                        <a:rPr lang="en-US" altLang="ko-KR" b="0" baseline="0">
                          <a:solidFill>
                            <a:schemeClr val="tx1"/>
                          </a:solidFill>
                          <a:latin typeface="+mn-lt"/>
                        </a:rPr>
                        <a:t>(Web)</a:t>
                      </a:r>
                      <a:r>
                        <a:rPr lang="ko-KR" altLang="en-US" b="0" baseline="0">
                          <a:solidFill>
                            <a:schemeClr val="tx1"/>
                          </a:solidFill>
                          <a:latin typeface="+mn-lt"/>
                        </a:rPr>
                        <a:t> 서비스</a:t>
                      </a:r>
                      <a:endParaRPr lang="ko-KR" altLang="en-US" b="0" baseline="0">
                        <a:solidFill>
                          <a:schemeClr val="tx1"/>
                        </a:solidFill>
                        <a:latin typeface="+mn-lt"/>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1030246">
                <a:tc>
                  <a:txBody>
                    <a:bodyPr vert="horz" lIns="91440" tIns="45720" rIns="91440" bIns="45720" anchor="ctr" anchorCtr="0"/>
                    <a:p>
                      <a:pPr algn="ctr" latinLnBrk="1">
                        <a:defRPr/>
                      </a:pPr>
                      <a:r>
                        <a:rPr lang="ko-KR" altLang="en-US" b="1">
                          <a:solidFill>
                            <a:schemeClr val="bg1"/>
                          </a:solidFill>
                        </a:rPr>
                        <a:t>서비스 개요</a:t>
                      </a:r>
                      <a:endParaRPr lang="en-US" altLang="ko-KR"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6f00"/>
                    </a:solidFill>
                  </a:tcPr>
                </a:tc>
                <a:tc>
                  <a:txBody>
                    <a:bodyPr vert="horz" lIns="91440" tIns="45720" rIns="91440" bIns="45720" anchor="ctr" anchorCtr="0"/>
                    <a:p>
                      <a:pPr lvl="0">
                        <a:defRPr/>
                      </a:pPr>
                      <a:r>
                        <a:rPr lang="en-US" altLang="ko-KR">
                          <a:solidFill>
                            <a:srgbClr val="000000"/>
                          </a:solidFill>
                        </a:rPr>
                        <a:t>CodeTrip</a:t>
                      </a:r>
                      <a:r>
                        <a:rPr lang="ko-KR" altLang="en-US">
                          <a:solidFill>
                            <a:srgbClr val="000000"/>
                          </a:solidFill>
                        </a:rPr>
                        <a:t>은 여행지 탐색</a:t>
                      </a:r>
                      <a:r>
                        <a:rPr lang="en-US" altLang="ko-KR">
                          <a:solidFill>
                            <a:srgbClr val="000000"/>
                          </a:solidFill>
                        </a:rPr>
                        <a:t>, </a:t>
                      </a:r>
                      <a:r>
                        <a:rPr lang="ko-KR" altLang="en-US">
                          <a:solidFill>
                            <a:srgbClr val="000000"/>
                          </a:solidFill>
                        </a:rPr>
                        <a:t>축제</a:t>
                      </a:r>
                      <a:r>
                        <a:rPr lang="en-US" altLang="ko-KR">
                          <a:solidFill>
                            <a:srgbClr val="000000"/>
                          </a:solidFill>
                        </a:rPr>
                        <a:t>·</a:t>
                      </a:r>
                      <a:r>
                        <a:rPr lang="ko-KR" altLang="en-US">
                          <a:solidFill>
                            <a:srgbClr val="000000"/>
                          </a:solidFill>
                        </a:rPr>
                        <a:t>행사 확인</a:t>
                      </a:r>
                      <a:r>
                        <a:rPr lang="en-US" altLang="ko-KR">
                          <a:solidFill>
                            <a:srgbClr val="000000"/>
                          </a:solidFill>
                        </a:rPr>
                        <a:t>, </a:t>
                      </a:r>
                      <a:r>
                        <a:rPr lang="ko-KR" altLang="en-US">
                          <a:solidFill>
                            <a:srgbClr val="000000"/>
                          </a:solidFill>
                        </a:rPr>
                        <a:t>찜</a:t>
                      </a:r>
                      <a:r>
                        <a:rPr lang="en-US" altLang="ko-KR">
                          <a:solidFill>
                            <a:srgbClr val="000000"/>
                          </a:solidFill>
                        </a:rPr>
                        <a:t>/</a:t>
                      </a:r>
                      <a:r>
                        <a:rPr lang="ko-KR" altLang="en-US">
                          <a:solidFill>
                            <a:srgbClr val="000000"/>
                          </a:solidFill>
                        </a:rPr>
                        <a:t>폴더 저장</a:t>
                      </a:r>
                      <a:r>
                        <a:rPr lang="en-US" altLang="ko-KR">
                          <a:solidFill>
                            <a:srgbClr val="000000"/>
                          </a:solidFill>
                        </a:rPr>
                        <a:t>, AI</a:t>
                      </a:r>
                      <a:r>
                        <a:rPr lang="ko-KR" altLang="en-US">
                          <a:solidFill>
                            <a:srgbClr val="000000"/>
                          </a:solidFill>
                        </a:rPr>
                        <a:t> 여행 일정 생성</a:t>
                      </a:r>
                      <a:r>
                        <a:rPr lang="en-US" altLang="ko-KR">
                          <a:solidFill>
                            <a:srgbClr val="000000"/>
                          </a:solidFill>
                        </a:rPr>
                        <a:t>, </a:t>
                      </a:r>
                      <a:r>
                        <a:rPr lang="ko-KR" altLang="en-US">
                          <a:solidFill>
                            <a:srgbClr val="000000"/>
                          </a:solidFill>
                        </a:rPr>
                        <a:t>커뮤니티 공유로 연결하는 여행 큐레이션 서비스입니다</a:t>
                      </a:r>
                      <a:r>
                        <a:rPr lang="en-US" altLang="ko-KR">
                          <a:solidFill>
                            <a:srgbClr val="000000"/>
                          </a:solidFill>
                        </a:rPr>
                        <a:t>.</a:t>
                      </a:r>
                      <a:endParaRPr lang="en-US" altLang="ko-KR">
                        <a:solidFill>
                          <a:srgbClr val="000000"/>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2441591">
                <a:tc>
                  <a:txBody>
                    <a:bodyPr vert="horz" lIns="91440" tIns="45720" rIns="91440" bIns="45720" anchor="ctr" anchorCtr="0"/>
                    <a:p>
                      <a:pPr algn="ctr" latinLnBrk="1">
                        <a:defRPr/>
                      </a:pPr>
                      <a:r>
                        <a:rPr lang="ko-KR" altLang="en-US" b="1">
                          <a:solidFill>
                            <a:schemeClr val="bg1"/>
                          </a:solidFill>
                        </a:rPr>
                        <a:t>주제 선정 이유</a:t>
                      </a:r>
                      <a:endParaRPr lang="ko-KR" altLang="en-US"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6f00"/>
                    </a:solidFill>
                  </a:tcPr>
                </a:tc>
                <a:tc>
                  <a:txBody>
                    <a:bodyPr vert="horz" lIns="91440" tIns="45720" rIns="91440" bIns="45720" anchor="ctr" anchorCtr="0"/>
                    <a:p>
                      <a:pPr lvl="0">
                        <a:defRPr/>
                      </a:pPr>
                      <a:r>
                        <a:rPr lang="ko-KR" altLang="en-US">
                          <a:solidFill>
                            <a:srgbClr val="000000"/>
                          </a:solidFill>
                        </a:rPr>
                        <a:t>관광 데이터는 풍부하지만 사용자가 여행지를 탐색한 후 정보 저장 및 공유</a:t>
                      </a:r>
                      <a:r>
                        <a:rPr lang="en-US" altLang="ko-KR">
                          <a:solidFill>
                            <a:srgbClr val="000000"/>
                          </a:solidFill>
                        </a:rPr>
                        <a:t>,</a:t>
                      </a:r>
                      <a:r>
                        <a:rPr lang="ko-KR" altLang="en-US">
                          <a:solidFill>
                            <a:srgbClr val="000000"/>
                          </a:solidFill>
                        </a:rPr>
                        <a:t> 실제 일정으로 구성하는 과정을 따로 진행해야 하는 불편함이 있었습니다</a:t>
                      </a:r>
                      <a:r>
                        <a:rPr lang="en-US" altLang="ko-KR">
                          <a:solidFill>
                            <a:srgbClr val="000000"/>
                          </a:solidFill>
                        </a:rPr>
                        <a:t>.</a:t>
                      </a:r>
                      <a:endParaRPr>
                        <a:solidFill>
                          <a:srgbClr val="000000"/>
                        </a:solidFill>
                      </a:endParaRPr>
                    </a:p>
                    <a:p>
                      <a:pPr lvl="0">
                        <a:defRPr/>
                      </a:pPr>
                      <a:r>
                        <a:rPr>
                          <a:solidFill>
                            <a:srgbClr val="000000"/>
                          </a:solidFill>
                        </a:rPr>
                        <a:t>CodeTrip은 탐색 결과가 실제 여행 계획으로 이어지도록 이 과정을 한 흐름으로 구성합니다.</a:t>
                      </a:r>
                      <a:endParaRPr lang="en-US" altLang="ko-KR">
                        <a:solidFill>
                          <a:srgbClr val="000000"/>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timing>
    <p:tnLst>
      <p:par>
        <p:cTn id="1" dur="indefinite" restart="never" nodeType="tmRoot"/>
      </p:par>
    </p:tnLst>
  </p:timing>
</p:sld>
</file>

<file path=ppt/slides/slide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graphicFrame>
        <p:nvGraphicFramePr>
          <p:cNvPr id="17" name="표 16"/>
          <p:cNvGraphicFramePr>
            <a:graphicFrameLocks noGrp="1"/>
          </p:cNvGraphicFramePr>
          <p:nvPr/>
        </p:nvGraphicFramePr>
        <p:xfrm>
          <a:off x="287250" y="1218429"/>
          <a:ext cx="11649826" cy="4733484"/>
        </p:xfrm>
        <a:graphic>
          <a:graphicData uri="http://schemas.openxmlformats.org/drawingml/2006/table">
            <a:tbl>
              <a:tblPr firstRow="1" bandRow="1">
                <a:tableStyleId>{5C22544A-7EE6-4342-B048-85BDC9FD1C3A}</a:tableStyleId>
              </a:tblPr>
              <a:tblGrid>
                <a:gridCol w="1955222"/>
                <a:gridCol w="9694604"/>
              </a:tblGrid>
              <a:tr h="4733484">
                <a:tc>
                  <a:txBody>
                    <a:bodyPr vert="horz" lIns="91440" tIns="45720" rIns="91440" bIns="45720" anchor="ctr" anchorCtr="0"/>
                    <a:p>
                      <a:pPr marL="0" marR="0" lvl="0" indent="0" algn="ctr" defTabSz="914400" rtl="0" eaLnBrk="1" latinLnBrk="1" hangingPunct="1">
                        <a:lnSpc>
                          <a:spcPct val="100000"/>
                        </a:lnSpc>
                        <a:spcBef>
                          <a:spcPts val="0"/>
                        </a:spcBef>
                        <a:spcAft>
                          <a:spcPts val="0"/>
                        </a:spcAft>
                        <a:buClrTx/>
                        <a:buFontTx/>
                        <a:buNone/>
                        <a:defRPr/>
                      </a:pPr>
                      <a:r>
                        <a:rPr lang="ko-KR" altLang="en-US" b="1">
                          <a:solidFill>
                            <a:schemeClr val="bg1"/>
                          </a:solidFill>
                        </a:rPr>
                        <a:t>서비스 핵심기능</a:t>
                      </a:r>
                      <a:endParaRPr lang="ko-KR" altLang="en-US" b="1">
                        <a:solidFill>
                          <a:schemeClr val="bg1"/>
                        </a:solidFill>
                      </a:endParaRPr>
                    </a:p>
                    <a:p>
                      <a:pPr algn="ctr" latinLnBrk="1">
                        <a:defRPr/>
                      </a:pPr>
                      <a:endParaRPr lang="ko-KR" altLang="en-US"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6f00"/>
                    </a:solidFill>
                  </a:tcPr>
                </a:tc>
                <a:tc>
                  <a:txBody>
                    <a:bodyPr vert="horz" lIns="91440" tIns="45720" rIns="91440" bIns="45720" anchor="ctr" anchorCtr="0"/>
                    <a:p>
                      <a:pPr lvl="0">
                        <a:lnSpc>
                          <a:spcPct val="150000"/>
                        </a:lnSpc>
                        <a:defRPr/>
                      </a:pPr>
                      <a:r>
                        <a:rPr lang="ko-KR" altLang="en-US" b="0">
                          <a:solidFill>
                            <a:schemeClr val="dk1"/>
                          </a:solidFill>
                        </a:rPr>
                        <a:t>CodeTrip은 여행지를 찾고, 저장하고, 일정으로 발전시키는 과정을 하나의 흐름으로 연결하는 여행 큐레이션 서비스입니다.</a:t>
                      </a:r>
                      <a:endParaRPr lang="ko-KR" altLang="en-US" b="0">
                        <a:solidFill>
                          <a:schemeClr val="dk1"/>
                        </a:solidFill>
                      </a:endParaRPr>
                    </a:p>
                    <a:p>
                      <a:pPr lvl="0">
                        <a:lnSpc>
                          <a:spcPct val="150000"/>
                        </a:lnSpc>
                        <a:defRPr/>
                      </a:pPr>
                      <a:endParaRPr lang="ko-KR" altLang="en-US" b="0">
                        <a:solidFill>
                          <a:schemeClr val="dk1"/>
                        </a:solidFill>
                      </a:endParaRPr>
                    </a:p>
                    <a:p>
                      <a:pPr lvl="0">
                        <a:lnSpc>
                          <a:spcPct val="150000"/>
                        </a:lnSpc>
                        <a:defRPr/>
                      </a:pPr>
                      <a:r>
                        <a:rPr lang="ko-KR" altLang="en-US">
                          <a:solidFill>
                            <a:schemeClr val="dk1"/>
                          </a:solidFill>
                        </a:rPr>
                        <a:t>① 여행지 탐색</a:t>
                      </a:r>
                      <a:r>
                        <a:rPr lang="ko-KR" altLang="en-US" b="0">
                          <a:solidFill>
                            <a:schemeClr val="dk1"/>
                          </a:solidFill>
                        </a:rPr>
                        <a:t>: 지역·테마·키워드 조건으로 TourAPI 기반 여행지를 탐색합니다.</a:t>
                      </a:r>
                      <a:endParaRPr lang="ko-KR" altLang="en-US" b="0">
                        <a:solidFill>
                          <a:schemeClr val="dk1"/>
                        </a:solidFill>
                      </a:endParaRPr>
                    </a:p>
                    <a:p>
                      <a:pPr lvl="0">
                        <a:lnSpc>
                          <a:spcPct val="150000"/>
                        </a:lnSpc>
                        <a:defRPr/>
                      </a:pPr>
                      <a:r>
                        <a:rPr lang="ko-KR" altLang="en-US">
                          <a:solidFill>
                            <a:schemeClr val="dk1"/>
                          </a:solidFill>
                        </a:rPr>
                        <a:t>② 즉흥 추천</a:t>
                      </a:r>
                      <a:r>
                        <a:rPr lang="ko-KR" altLang="en-US" b="0">
                          <a:solidFill>
                            <a:schemeClr val="dk1"/>
                          </a:solidFill>
                        </a:rPr>
                        <a:t>: 위치·관심 지역·날씨 정보를 활용해 지금 가기 좋은 여행지를 랜덤 추천합니다.</a:t>
                      </a:r>
                      <a:endParaRPr lang="ko-KR" altLang="en-US" b="0">
                        <a:solidFill>
                          <a:schemeClr val="dk1"/>
                        </a:solidFill>
                      </a:endParaRPr>
                    </a:p>
                    <a:p>
                      <a:pPr lvl="0">
                        <a:lnSpc>
                          <a:spcPct val="150000"/>
                        </a:lnSpc>
                        <a:defRPr/>
                      </a:pPr>
                      <a:r>
                        <a:rPr lang="ko-KR" altLang="en-US">
                          <a:solidFill>
                            <a:schemeClr val="dk1"/>
                          </a:solidFill>
                        </a:rPr>
                        <a:t>③ 여행지 및 축제 상세 정보</a:t>
                      </a:r>
                      <a:r>
                        <a:rPr lang="en-US" altLang="ko-KR">
                          <a:solidFill>
                            <a:schemeClr val="dk1"/>
                          </a:solidFill>
                        </a:rPr>
                        <a:t>/</a:t>
                      </a:r>
                      <a:r>
                        <a:rPr lang="ko-KR" altLang="en-US">
                          <a:solidFill>
                            <a:schemeClr val="dk1"/>
                          </a:solidFill>
                        </a:rPr>
                        <a:t>지도</a:t>
                      </a:r>
                      <a:r>
                        <a:rPr lang="en-US" altLang="ko-KR">
                          <a:solidFill>
                            <a:schemeClr val="dk1"/>
                          </a:solidFill>
                        </a:rPr>
                        <a:t>/</a:t>
                      </a:r>
                      <a:r>
                        <a:rPr lang="ko-KR" altLang="en-US">
                          <a:solidFill>
                            <a:schemeClr val="dk1"/>
                          </a:solidFill>
                        </a:rPr>
                        <a:t>날씨 조회</a:t>
                      </a:r>
                      <a:r>
                        <a:rPr lang="ko-KR" altLang="en-US" b="0">
                          <a:solidFill>
                            <a:schemeClr val="dk1"/>
                          </a:solidFill>
                        </a:rPr>
                        <a:t>: 여행지 및 축제 상세 정보</a:t>
                      </a:r>
                      <a:r>
                        <a:rPr lang="en-US" altLang="ko-KR" b="0">
                          <a:solidFill>
                            <a:schemeClr val="dk1"/>
                          </a:solidFill>
                        </a:rPr>
                        <a:t>/</a:t>
                      </a:r>
                      <a:r>
                        <a:rPr lang="ko-KR" altLang="en-US" b="0">
                          <a:solidFill>
                            <a:schemeClr val="dk1"/>
                          </a:solidFill>
                        </a:rPr>
                        <a:t>이미지</a:t>
                      </a:r>
                      <a:r>
                        <a:rPr lang="en-US" altLang="ko-KR" b="0">
                          <a:solidFill>
                            <a:schemeClr val="dk1"/>
                          </a:solidFill>
                        </a:rPr>
                        <a:t>/</a:t>
                      </a:r>
                      <a:r>
                        <a:rPr lang="ko-KR" altLang="en-US" b="0">
                          <a:solidFill>
                            <a:schemeClr val="dk1"/>
                          </a:solidFill>
                        </a:rPr>
                        <a:t>주소</a:t>
                      </a:r>
                      <a:r>
                        <a:rPr lang="en-US" altLang="ko-KR" b="0">
                          <a:solidFill>
                            <a:schemeClr val="dk1"/>
                          </a:solidFill>
                        </a:rPr>
                        <a:t>/</a:t>
                      </a:r>
                      <a:r>
                        <a:rPr lang="ko-KR" altLang="en-US" b="0">
                          <a:solidFill>
                            <a:schemeClr val="dk1"/>
                          </a:solidFill>
                        </a:rPr>
                        <a:t>이용 정보</a:t>
                      </a:r>
                      <a:r>
                        <a:rPr lang="en-US" altLang="ko-KR" b="0">
                          <a:solidFill>
                            <a:schemeClr val="dk1"/>
                          </a:solidFill>
                        </a:rPr>
                        <a:t>/</a:t>
                      </a:r>
                      <a:r>
                        <a:rPr lang="ko-KR" altLang="en-US" b="0">
                          <a:solidFill>
                            <a:schemeClr val="dk1"/>
                          </a:solidFill>
                        </a:rPr>
                        <a:t>카카오 지도 위치</a:t>
                      </a:r>
                      <a:r>
                        <a:rPr lang="en-US" altLang="ko-KR" b="0">
                          <a:solidFill>
                            <a:schemeClr val="dk1"/>
                          </a:solidFill>
                        </a:rPr>
                        <a:t>/</a:t>
                      </a:r>
                      <a:r>
                        <a:rPr lang="ko-KR" altLang="en-US" b="0">
                          <a:solidFill>
                            <a:schemeClr val="dk1"/>
                          </a:solidFill>
                        </a:rPr>
                        <a:t>날씨를 확인합니다.</a:t>
                      </a:r>
                      <a:endParaRPr lang="ko-KR" altLang="en-US" b="0">
                        <a:solidFill>
                          <a:schemeClr val="dk1"/>
                        </a:solidFill>
                      </a:endParaRPr>
                    </a:p>
                    <a:p>
                      <a:pPr lvl="0">
                        <a:lnSpc>
                          <a:spcPct val="150000"/>
                        </a:lnSpc>
                        <a:defRPr/>
                      </a:pPr>
                      <a:r>
                        <a:rPr lang="ko-KR" altLang="en-US">
                          <a:solidFill>
                            <a:schemeClr val="dk1"/>
                          </a:solidFill>
                        </a:rPr>
                        <a:t>④ 여행 찜·폴더 관리</a:t>
                      </a:r>
                      <a:r>
                        <a:rPr lang="ko-KR" altLang="en-US" b="0">
                          <a:solidFill>
                            <a:schemeClr val="dk1"/>
                          </a:solidFill>
                        </a:rPr>
                        <a:t>: 관심 장소를 찜·폴더로 저장하고 메모·체크리스트로 관리합니다.</a:t>
                      </a:r>
                      <a:endParaRPr lang="ko-KR" altLang="en-US" b="0">
                        <a:solidFill>
                          <a:schemeClr val="dk1"/>
                        </a:solidFill>
                      </a:endParaRPr>
                    </a:p>
                    <a:p>
                      <a:pPr lvl="0">
                        <a:lnSpc>
                          <a:spcPct val="150000"/>
                        </a:lnSpc>
                        <a:defRPr/>
                      </a:pPr>
                      <a:r>
                        <a:rPr lang="ko-KR" altLang="en-US">
                          <a:solidFill>
                            <a:schemeClr val="dk1"/>
                          </a:solidFill>
                        </a:rPr>
                        <a:t>⑤ AI 일정 생성 및 커뮤니티</a:t>
                      </a:r>
                      <a:r>
                        <a:rPr lang="ko-KR" altLang="en-US" b="0">
                          <a:solidFill>
                            <a:schemeClr val="dk1"/>
                          </a:solidFill>
                        </a:rPr>
                        <a:t>: AI 여행 일정을 생성·저장하고 여행 경험을 커뮤니티에서 공유합니다.</a:t>
                      </a:r>
                      <a:endParaRPr lang="ko-KR" altLang="en-US" b="0">
                        <a:solidFill>
                          <a:schemeClr val="dk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timing>
    <p:tnLst>
      <p:par>
        <p:cTn id="1" dur="indefinite" restart="never" nodeType="tmRoot"/>
      </p:par>
    </p:tnLst>
  </p:timing>
</p:sld>
</file>

<file path=ppt/slides/slide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graphicFrame>
        <p:nvGraphicFramePr>
          <p:cNvPr id="17" name="표 16"/>
          <p:cNvGraphicFramePr>
            <a:graphicFrameLocks noGrp="1"/>
          </p:cNvGraphicFramePr>
          <p:nvPr/>
        </p:nvGraphicFramePr>
        <p:xfrm>
          <a:off x="287250" y="999354"/>
          <a:ext cx="11649826" cy="5639570"/>
        </p:xfrm>
        <a:graphic>
          <a:graphicData uri="http://schemas.openxmlformats.org/drawingml/2006/table">
            <a:tbl>
              <a:tblPr firstRow="1" bandRow="1">
                <a:tableStyleId>{5C22544A-7EE6-4342-B048-85BDC9FD1C3A}</a:tableStyleId>
              </a:tblPr>
              <a:tblGrid>
                <a:gridCol w="1955222"/>
                <a:gridCol w="9694604"/>
              </a:tblGrid>
              <a:tr h="2087727">
                <a:tc>
                  <a:txBody>
                    <a:bodyPr vert="horz" lIns="91440" tIns="45720" rIns="91440" bIns="45720" anchor="ctr" anchorCtr="0"/>
                    <a:p>
                      <a:pPr algn="ctr" latinLnBrk="1">
                        <a:defRPr/>
                      </a:pPr>
                      <a:r>
                        <a:rPr lang="ko-KR" altLang="en-US" b="1">
                          <a:solidFill>
                            <a:schemeClr val="bg1"/>
                          </a:solidFill>
                        </a:rPr>
                        <a:t>서비스</a:t>
                      </a:r>
                      <a:endParaRPr lang="ko-KR" altLang="en-US" b="1">
                        <a:solidFill>
                          <a:schemeClr val="bg1"/>
                        </a:solidFill>
                      </a:endParaRPr>
                    </a:p>
                    <a:p>
                      <a:pPr algn="ctr" latinLnBrk="1">
                        <a:defRPr/>
                      </a:pPr>
                      <a:r>
                        <a:rPr lang="ko-KR" altLang="en-US" b="1">
                          <a:solidFill>
                            <a:schemeClr val="bg1"/>
                          </a:solidFill>
                        </a:rPr>
                        <a:t>대표 이미지</a:t>
                      </a:r>
                      <a:endParaRPr lang="ko-KR" altLang="en-US" b="1">
                        <a:solidFill>
                          <a:schemeClr val="bg1"/>
                        </a:solidFill>
                      </a:endParaRPr>
                    </a:p>
                    <a:p>
                      <a:pPr algn="ctr" latinLnBrk="1">
                        <a:defRPr/>
                      </a:pPr>
                      <a:r>
                        <a:rPr lang="en-US" altLang="ko-KR" b="1">
                          <a:solidFill>
                            <a:schemeClr val="bg1"/>
                          </a:solidFill>
                        </a:rPr>
                        <a:t>(</a:t>
                      </a:r>
                      <a:r>
                        <a:rPr lang="ko-KR" altLang="en-US" b="1">
                          <a:solidFill>
                            <a:schemeClr val="bg1"/>
                          </a:solidFill>
                        </a:rPr>
                        <a:t>썸네일</a:t>
                      </a:r>
                      <a:r>
                        <a:rPr lang="en-US" altLang="ko-KR" b="1">
                          <a:solidFill>
                            <a:schemeClr val="bg1"/>
                          </a:solidFill>
                        </a:rPr>
                        <a:t>)</a:t>
                      </a:r>
                      <a:endParaRPr lang="ko-KR" altLang="en-US"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6f00"/>
                    </a:solidFill>
                  </a:tcPr>
                </a:tc>
                <a:tc>
                  <a:txBody>
                    <a:bodyPr vert="horz" lIns="91440" tIns="45720" rIns="91440" bIns="45720" anchor="ctr" anchorCtr="0"/>
                    <a:p>
                      <a:pPr marL="0" marR="0" lvl="0" indent="0" algn="just" defTabSz="914400" rtl="0" eaLnBrk="1" latinLnBrk="1" hangingPunct="1">
                        <a:lnSpc>
                          <a:spcPct val="100000"/>
                        </a:lnSpc>
                        <a:spcBef>
                          <a:spcPts val="0"/>
                        </a:spcBef>
                        <a:spcAft>
                          <a:spcPts val="0"/>
                        </a:spcAft>
                        <a:buClrTx/>
                        <a:buFontTx/>
                        <a:buNone/>
                        <a:defRPr/>
                      </a:pPr>
                      <a:endParaRPr lang="en-US" altLang="ko-KR" sz="1800" b="0">
                        <a:solidFill>
                          <a:srgbClr val="ff0000"/>
                        </a:solidFill>
                        <a:latin typeface="+mn-lt"/>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3551843">
                <a:tc>
                  <a:txBody>
                    <a:bodyPr vert="horz" lIns="91440" tIns="45720" rIns="91440" bIns="45720" anchor="ctr" anchorCtr="0"/>
                    <a:p>
                      <a:pPr algn="ctr" latinLnBrk="1">
                        <a:defRPr/>
                      </a:pPr>
                      <a:r>
                        <a:rPr lang="ko-KR" altLang="en-US" b="1">
                          <a:solidFill>
                            <a:schemeClr val="bg1"/>
                          </a:solidFill>
                        </a:rPr>
                        <a:t>서비스</a:t>
                      </a:r>
                      <a:endParaRPr lang="ko-KR" altLang="en-US" b="1">
                        <a:solidFill>
                          <a:schemeClr val="bg1"/>
                        </a:solidFill>
                      </a:endParaRPr>
                    </a:p>
                    <a:p>
                      <a:pPr algn="ctr" latinLnBrk="1">
                        <a:defRPr/>
                      </a:pPr>
                      <a:r>
                        <a:rPr lang="ko-KR" altLang="en-US" b="1">
                          <a:solidFill>
                            <a:schemeClr val="bg1"/>
                          </a:solidFill>
                        </a:rPr>
                        <a:t>상세 이미지</a:t>
                      </a:r>
                      <a:endParaRPr lang="en-US" altLang="ko-KR"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6f00"/>
                    </a:solidFill>
                  </a:tcPr>
                </a:tc>
                <a:tc>
                  <a:txBody>
                    <a:bodyPr vert="horz" lIns="91440" tIns="45720" rIns="91440" bIns="45720" anchor="ctr" anchorCtr="0"/>
                    <a:p>
                      <a:pPr marL="0" marR="0" lvl="0" indent="0" algn="just" defTabSz="914400" rtl="0" eaLnBrk="1" latinLnBrk="1" hangingPunct="1">
                        <a:lnSpc>
                          <a:spcPct val="100000"/>
                        </a:lnSpc>
                        <a:spcBef>
                          <a:spcPts val="0"/>
                        </a:spcBef>
                        <a:spcAft>
                          <a:spcPts val="0"/>
                        </a:spcAft>
                        <a:buClrTx/>
                        <a:buFontTx/>
                        <a:buNone/>
                        <a:defRPr/>
                      </a:pPr>
                      <a:endParaRPr lang="en-US" altLang="ko-KR" sz="1800" b="0">
                        <a:solidFill>
                          <a:srgbClr val="ff0000"/>
                        </a:solidFill>
                        <a:latin typeface="+mn-lt"/>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bl>
          </a:graphicData>
        </a:graphic>
      </p:graphicFrame>
      <p:pic>
        <p:nvPicPr>
          <p:cNvPr id="18" name=""/>
          <p:cNvPicPr>
            <a:picLocks noChangeAspect="1"/>
          </p:cNvPicPr>
          <p:nvPr/>
        </p:nvPicPr>
        <p:blipFill rotWithShape="1">
          <a:blip r:embed="rId2"/>
          <a:stretch>
            <a:fillRect/>
          </a:stretch>
        </p:blipFill>
        <p:spPr>
          <a:xfrm>
            <a:off x="2251981" y="1015909"/>
            <a:ext cx="3651037" cy="2057857"/>
          </a:xfrm>
          <a:prstGeom prst="rect">
            <a:avLst/>
          </a:prstGeom>
        </p:spPr>
      </p:pic>
      <p:pic>
        <p:nvPicPr>
          <p:cNvPr id="23" name=""/>
          <p:cNvPicPr>
            <a:picLocks noChangeAspect="1"/>
          </p:cNvPicPr>
          <p:nvPr/>
        </p:nvPicPr>
        <p:blipFill rotWithShape="1">
          <a:blip r:embed="rId3"/>
          <a:srcRect l="31900" t="10390" r="32620" b="8110"/>
          <a:stretch>
            <a:fillRect/>
          </a:stretch>
        </p:blipFill>
        <p:spPr>
          <a:xfrm>
            <a:off x="9908196" y="1003272"/>
            <a:ext cx="2031871" cy="2075418"/>
          </a:xfrm>
          <a:prstGeom prst="rect">
            <a:avLst/>
          </a:prstGeom>
        </p:spPr>
      </p:pic>
      <p:pic>
        <p:nvPicPr>
          <p:cNvPr id="25" name=""/>
          <p:cNvPicPr>
            <a:picLocks noChangeAspect="1"/>
          </p:cNvPicPr>
          <p:nvPr/>
        </p:nvPicPr>
        <p:blipFill rotWithShape="1">
          <a:blip r:embed="rId4"/>
          <a:stretch>
            <a:fillRect/>
          </a:stretch>
        </p:blipFill>
        <p:spPr>
          <a:xfrm>
            <a:off x="5874493" y="1009435"/>
            <a:ext cx="4046907" cy="2070742"/>
          </a:xfrm>
          <a:prstGeom prst="rect">
            <a:avLst/>
          </a:prstGeom>
        </p:spPr>
      </p:pic>
      <p:pic>
        <p:nvPicPr>
          <p:cNvPr id="28" name=""/>
          <p:cNvPicPr>
            <a:picLocks noChangeAspect="1"/>
          </p:cNvPicPr>
          <p:nvPr/>
        </p:nvPicPr>
        <p:blipFill rotWithShape="1">
          <a:blip r:embed="rId5"/>
          <a:stretch>
            <a:fillRect/>
          </a:stretch>
        </p:blipFill>
        <p:spPr>
          <a:xfrm>
            <a:off x="6967247" y="3085235"/>
            <a:ext cx="4985571" cy="3583985"/>
          </a:xfrm>
          <a:prstGeom prst="rect">
            <a:avLst/>
          </a:prstGeom>
        </p:spPr>
      </p:pic>
      <p:pic>
        <p:nvPicPr>
          <p:cNvPr id="27" name=""/>
          <p:cNvPicPr>
            <a:picLocks noChangeAspect="1"/>
          </p:cNvPicPr>
          <p:nvPr/>
        </p:nvPicPr>
        <p:blipFill rotWithShape="1">
          <a:blip r:embed="rId6"/>
          <a:stretch>
            <a:fillRect/>
          </a:stretch>
        </p:blipFill>
        <p:spPr>
          <a:xfrm>
            <a:off x="2249915" y="3086347"/>
            <a:ext cx="4941537" cy="3552769"/>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graphicFrame>
        <p:nvGraphicFramePr>
          <p:cNvPr id="8" name="표 7"/>
          <p:cNvGraphicFramePr>
            <a:graphicFrameLocks noGrp="1"/>
          </p:cNvGraphicFramePr>
          <p:nvPr/>
        </p:nvGraphicFramePr>
        <p:xfrm>
          <a:off x="293427" y="1771401"/>
          <a:ext cx="11495576" cy="4901435"/>
        </p:xfrm>
        <a:graphic>
          <a:graphicData uri="http://schemas.openxmlformats.org/drawingml/2006/table">
            <a:tbl>
              <a:tblPr firstRow="1" bandRow="1">
                <a:tableStyleId>{5C22544A-7EE6-4342-B048-85BDC9FD1C3A}</a:tableStyleId>
              </a:tblPr>
              <a:tblGrid>
                <a:gridCol w="2873894"/>
                <a:gridCol w="2873894"/>
                <a:gridCol w="2873894"/>
                <a:gridCol w="2873894"/>
              </a:tblGrid>
              <a:tr h="391099">
                <a:tc gridSpan="4">
                  <a:txBody>
                    <a:bodyPr vert="horz" lIns="91440" tIns="45720" rIns="91440" bIns="45720" anchor="ctr" anchorCtr="0"/>
                    <a:p>
                      <a:pPr algn="ctr" latinLnBrk="1">
                        <a:defRPr/>
                      </a:pPr>
                      <a:r>
                        <a:rPr lang="ko-KR" altLang="en-US">
                          <a:solidFill>
                            <a:schemeClr val="bg1"/>
                          </a:solidFill>
                        </a:rPr>
                        <a:t>기능</a:t>
                      </a:r>
                      <a:r>
                        <a:rPr lang="ko-KR" altLang="en-US" baseline="0">
                          <a:solidFill>
                            <a:schemeClr val="bg1"/>
                          </a:solidFill>
                        </a:rPr>
                        <a:t> </a:t>
                      </a:r>
                      <a:r>
                        <a:rPr lang="ko-KR" altLang="en-US">
                          <a:solidFill>
                            <a:schemeClr val="bg1"/>
                          </a:solidFill>
                        </a:rPr>
                        <a:t>흐름도</a:t>
                      </a:r>
                      <a:endParaRPr lang="ko-KR" altLang="en-US">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6f00"/>
                    </a:solidFill>
                  </a:tcPr>
                </a:tc>
                <a:tc hMerge="1">
                  <a:txBody>
                    <a:bodyPr/>
                    <a:p>
                      <a:pPr algn="ctr" latinLnBrk="1">
                        <a:defRPr/>
                      </a:pPr>
                      <a:endParaRPr lang="ko-KR" altLang="en-US">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6f00"/>
                    </a:solidFill>
                  </a:tcPr>
                </a:tc>
                <a:tc hMerge="1">
                  <a:txBody>
                    <a:bodyPr/>
                    <a:p>
                      <a:pPr algn="ctr" latinLnBrk="1">
                        <a:defRPr/>
                      </a:pPr>
                      <a:endParaRPr lang="ko-KR" altLang="en-US">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6f00"/>
                    </a:solidFill>
                  </a:tcPr>
                </a:tc>
                <a:tc hMerge="1">
                  <a:txBody>
                    <a:bodyPr/>
                    <a:p>
                      <a:pPr algn="ctr" latinLnBrk="1">
                        <a:defRPr/>
                      </a:pPr>
                      <a:endParaRPr lang="ko-KR" altLang="en-US">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6f00"/>
                    </a:solidFill>
                  </a:tcPr>
                </a:tc>
              </a:tr>
              <a:tr h="2985070">
                <a:tc>
                  <a:txBody>
                    <a:bodyPr vert="horz" lIns="91440" tIns="45720" rIns="91440" bIns="45720" anchor="ctr" anchorCtr="0"/>
                    <a:p>
                      <a:pPr marL="0" marR="0" lvl="0" indent="0" algn="ctr" defTabSz="914400" rtl="0" eaLnBrk="1" latinLnBrk="1" hangingPunct="1">
                        <a:lnSpc>
                          <a:spcPct val="100000"/>
                        </a:lnSpc>
                        <a:spcBef>
                          <a:spcPts val="0"/>
                        </a:spcBef>
                        <a:spcAft>
                          <a:spcPts val="0"/>
                        </a:spcAft>
                        <a:buClrTx/>
                        <a:buFontTx/>
                        <a:buNone/>
                        <a:defRPr/>
                      </a:pPr>
                      <a:endParaRPr lang="en-US" altLang="ko-KR" sz="1800" b="0">
                        <a:solidFill>
                          <a:srgbClr val="ff0000"/>
                        </a:solidFill>
                        <a:latin typeface="+mn-lt"/>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marL="0" marR="0" lvl="0" indent="0" algn="ctr" defTabSz="914400" rtl="0" eaLnBrk="1" latinLnBrk="1" hangingPunct="1">
                        <a:lnSpc>
                          <a:spcPct val="100000"/>
                        </a:lnSpc>
                        <a:spcBef>
                          <a:spcPts val="0"/>
                        </a:spcBef>
                        <a:spcAft>
                          <a:spcPts val="0"/>
                        </a:spcAft>
                        <a:buClrTx/>
                        <a:buFontTx/>
                        <a:buNone/>
                        <a:defRPr/>
                      </a:pPr>
                      <a:endParaRPr lang="ko-KR" altLang="en-US"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marL="0" marR="0" lvl="0" indent="0" algn="ctr" defTabSz="914400" rtl="0" eaLnBrk="1" latinLnBrk="1" hangingPunct="1">
                        <a:lnSpc>
                          <a:spcPct val="100000"/>
                        </a:lnSpc>
                        <a:spcBef>
                          <a:spcPts val="0"/>
                        </a:spcBef>
                        <a:spcAft>
                          <a:spcPts val="0"/>
                        </a:spcAft>
                        <a:buClrTx/>
                        <a:buFontTx/>
                        <a:buNone/>
                        <a:defRPr/>
                      </a:pPr>
                      <a:endParaRPr lang="ko-KR" altLang="en-US"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marL="0" marR="0" lvl="0" indent="0" algn="ctr" defTabSz="914400" rtl="0" eaLnBrk="1" latinLnBrk="1" hangingPunct="1">
                        <a:lnSpc>
                          <a:spcPct val="100000"/>
                        </a:lnSpc>
                        <a:spcBef>
                          <a:spcPts val="0"/>
                        </a:spcBef>
                        <a:spcAft>
                          <a:spcPts val="0"/>
                        </a:spcAft>
                        <a:buClrTx/>
                        <a:buFontTx/>
                        <a:buNone/>
                        <a:defRPr/>
                      </a:pPr>
                      <a:endParaRPr lang="ko-KR" altLang="en-US"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1525266">
                <a:tc>
                  <a:txBody>
                    <a:bodyPr vert="horz" lIns="91440" tIns="45720" rIns="91440" bIns="45720" anchor="ctr" anchorCtr="0"/>
                    <a:p>
                      <a:pPr marL="0" marR="0" lvl="0" indent="0" algn="ctr" defTabSz="914400" rtl="0" eaLnBrk="1" latinLnBrk="1" hangingPunct="1">
                        <a:lnSpc>
                          <a:spcPct val="100000"/>
                        </a:lnSpc>
                        <a:spcBef>
                          <a:spcPts val="0"/>
                        </a:spcBef>
                        <a:spcAft>
                          <a:spcPts val="0"/>
                        </a:spcAft>
                        <a:buClrTx/>
                        <a:buFontTx/>
                        <a:buNone/>
                        <a:defRPr/>
                      </a:pPr>
                      <a:r>
                        <a:rPr lang="en-US" altLang="ko-KR" sz="1200" b="0">
                          <a:solidFill>
                            <a:schemeClr val="tx1"/>
                          </a:solidFill>
                          <a:latin typeface="+mn-lt"/>
                        </a:rPr>
                        <a:t>① 사용자가 홈 또는 여행지 탐색 화면에 진입합니다.</a:t>
                      </a:r>
                      <a:endParaRPr lang="en-US" altLang="ko-KR" sz="1200" b="0">
                        <a:solidFill>
                          <a:schemeClr val="tx1"/>
                        </a:solidFill>
                        <a:latin typeface="+mn-lt"/>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algn="ctr" latinLnBrk="1">
                        <a:defRPr/>
                      </a:pPr>
                      <a:r>
                        <a:rPr lang="ko-KR" altLang="en-US" sz="1200" b="0">
                          <a:solidFill>
                            <a:schemeClr val="tx1"/>
                          </a:solidFill>
                        </a:rPr>
                        <a:t>② 지역, 테마, 키워드 조건을 선택합니다.</a:t>
                      </a:r>
                      <a:endParaRPr lang="ko-KR" altLang="en-US" sz="12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algn="ctr" latinLnBrk="1">
                        <a:defRPr/>
                      </a:pPr>
                      <a:r>
                        <a:rPr lang="ko-KR" altLang="en-US" sz="1200" b="0">
                          <a:solidFill>
                            <a:schemeClr val="tx1"/>
                          </a:solidFill>
                        </a:rPr>
                        <a:t>③ 한국관광공사 TourAPI 기반 여행지 목록을 조회합니다.</a:t>
                      </a:r>
                      <a:endParaRPr lang="ko-KR" altLang="en-US" sz="12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algn="ctr" latinLnBrk="1">
                        <a:defRPr/>
                      </a:pPr>
                      <a:r>
                        <a:rPr lang="ko-KR" altLang="en-US" sz="1200" b="0">
                          <a:solidFill>
                            <a:schemeClr val="tx1"/>
                          </a:solidFill>
                        </a:rPr>
                        <a:t>④ 여행지 카드 목록 또는 빈 결과·오류 안내를 확인합니다.</a:t>
                      </a:r>
                      <a:endParaRPr lang="ko-KR" altLang="en-US" sz="12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bl>
          </a:graphicData>
        </a:graphic>
      </p:graphicFrame>
      <p:graphicFrame>
        <p:nvGraphicFramePr>
          <p:cNvPr id="15" name="표 14"/>
          <p:cNvGraphicFramePr>
            <a:graphicFrameLocks noGrp="1"/>
          </p:cNvGraphicFramePr>
          <p:nvPr/>
        </p:nvGraphicFramePr>
        <p:xfrm>
          <a:off x="302952" y="911455"/>
          <a:ext cx="11484581" cy="782955"/>
        </p:xfrm>
        <a:graphic>
          <a:graphicData uri="http://schemas.openxmlformats.org/drawingml/2006/table">
            <a:tbl>
              <a:tblPr firstRow="1" bandRow="1">
                <a:tableStyleId>{5C22544A-7EE6-4342-B048-85BDC9FD1C3A}</a:tableStyleId>
              </a:tblPr>
              <a:tblGrid>
                <a:gridCol w="1792222"/>
                <a:gridCol w="9692359"/>
              </a:tblGrid>
              <a:tr h="291465">
                <a:tc>
                  <a:txBody>
                    <a:bodyPr vert="horz" lIns="91440" tIns="45720" rIns="91440" bIns="45720" anchor="ctr" anchorCtr="0"/>
                    <a:p>
                      <a:pPr algn="ctr" latinLnBrk="1">
                        <a:defRPr/>
                      </a:pPr>
                      <a:r>
                        <a:rPr lang="ko-KR" altLang="en-US" sz="1300" b="1">
                          <a:solidFill>
                            <a:schemeClr val="bg1"/>
                          </a:solidFill>
                        </a:rPr>
                        <a:t>핵심 기능</a:t>
                      </a:r>
                      <a:r>
                        <a:rPr lang="en-US" altLang="ko-KR" sz="1300" b="1">
                          <a:solidFill>
                            <a:schemeClr val="bg1"/>
                          </a:solidFill>
                        </a:rPr>
                        <a:t>1</a:t>
                      </a:r>
                      <a:endParaRPr lang="ko-KR" altLang="en-US" sz="1300"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latinLnBrk="1">
                        <a:defRPr/>
                      </a:pPr>
                      <a:r>
                        <a:rPr lang="en-US" altLang="ko-KR" sz="1300" b="0">
                          <a:solidFill>
                            <a:schemeClr val="tx1"/>
                          </a:solidFill>
                        </a:rPr>
                        <a:t>지역·테마·키워드 기반 여행지 탐색</a:t>
                      </a:r>
                      <a:endParaRPr lang="en-US" altLang="ko-KR" sz="13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491490">
                <a:tc>
                  <a:txBody>
                    <a:bodyPr vert="horz" lIns="91440" tIns="45720" rIns="91440" bIns="45720" anchor="ctr" anchorCtr="0"/>
                    <a:p>
                      <a:pPr algn="ctr" latinLnBrk="1">
                        <a:defRPr/>
                      </a:pPr>
                      <a:r>
                        <a:rPr lang="ko-KR" altLang="en-US" sz="1300" b="1">
                          <a:solidFill>
                            <a:schemeClr val="bg1"/>
                          </a:solidFill>
                        </a:rPr>
                        <a:t>기능 설명</a:t>
                      </a:r>
                      <a:endParaRPr lang="ko-KR" altLang="en-US" sz="1300"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marL="0" marR="0" lvl="0" indent="0" algn="l" defTabSz="914400" rtl="0" eaLnBrk="1" latinLnBrk="1" hangingPunct="1">
                        <a:lnSpc>
                          <a:spcPct val="100000"/>
                        </a:lnSpc>
                        <a:spcBef>
                          <a:spcPts val="0"/>
                        </a:spcBef>
                        <a:spcAft>
                          <a:spcPts val="0"/>
                        </a:spcAft>
                        <a:buClrTx/>
                        <a:buFontTx/>
                        <a:buNone/>
                        <a:defRPr/>
                      </a:pPr>
                      <a:r>
                        <a:rPr lang="ko-KR" altLang="ko-KR" sz="1300" b="0">
                          <a:solidFill>
                            <a:schemeClr val="tx1"/>
                          </a:solidFill>
                        </a:rPr>
                        <a:t>사용자가 지역, 테마, 키워드를 선택하면 한국관광공사 TourAPI 데이터를 기반으로 여행지 목록을 조회하고, 카드 형태로 탐색할 수 있는 기능입니다.</a:t>
                      </a:r>
                      <a:endParaRPr lang="ko-KR" altLang="ko-KR" sz="13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bl>
          </a:graphicData>
        </a:graphic>
      </p:graphicFrame>
      <p:pic>
        <p:nvPicPr>
          <p:cNvPr id="28" name=""/>
          <p:cNvPicPr>
            <a:picLocks noChangeAspect="1"/>
          </p:cNvPicPr>
          <p:nvPr/>
        </p:nvPicPr>
        <p:blipFill rotWithShape="1">
          <a:blip r:embed="rId2"/>
          <a:stretch>
            <a:fillRect/>
          </a:stretch>
        </p:blipFill>
        <p:spPr>
          <a:xfrm>
            <a:off x="6043928" y="2152771"/>
            <a:ext cx="2898139" cy="2992197"/>
          </a:xfrm>
          <a:prstGeom prst="rect">
            <a:avLst/>
          </a:prstGeom>
        </p:spPr>
      </p:pic>
      <p:pic>
        <p:nvPicPr>
          <p:cNvPr id="30" name=""/>
          <p:cNvPicPr>
            <a:picLocks noChangeAspect="1"/>
          </p:cNvPicPr>
          <p:nvPr/>
        </p:nvPicPr>
        <p:blipFill rotWithShape="1">
          <a:blip r:embed="rId3"/>
          <a:stretch>
            <a:fillRect/>
          </a:stretch>
        </p:blipFill>
        <p:spPr>
          <a:xfrm>
            <a:off x="3165762" y="2156888"/>
            <a:ext cx="2876841" cy="2982407"/>
          </a:xfrm>
          <a:prstGeom prst="rect">
            <a:avLst/>
          </a:prstGeom>
        </p:spPr>
      </p:pic>
      <p:pic>
        <p:nvPicPr>
          <p:cNvPr id="29" name=""/>
          <p:cNvPicPr>
            <a:picLocks noChangeAspect="1"/>
          </p:cNvPicPr>
          <p:nvPr/>
        </p:nvPicPr>
        <p:blipFill rotWithShape="1">
          <a:blip r:embed="rId4"/>
          <a:stretch>
            <a:fillRect/>
          </a:stretch>
        </p:blipFill>
        <p:spPr>
          <a:xfrm>
            <a:off x="291995" y="2159736"/>
            <a:ext cx="2908374" cy="2984062"/>
          </a:xfrm>
          <a:prstGeom prst="rect">
            <a:avLst/>
          </a:prstGeom>
        </p:spPr>
      </p:pic>
      <p:pic>
        <p:nvPicPr>
          <p:cNvPr id="27" name=""/>
          <p:cNvPicPr>
            <a:picLocks noChangeAspect="1"/>
          </p:cNvPicPr>
          <p:nvPr/>
        </p:nvPicPr>
        <p:blipFill rotWithShape="1">
          <a:blip r:embed="rId5"/>
          <a:srcRect l="20250" r="14780" b="8960"/>
          <a:stretch>
            <a:fillRect/>
          </a:stretch>
        </p:blipFill>
        <p:spPr>
          <a:xfrm>
            <a:off x="8934447" y="2156477"/>
            <a:ext cx="2850396" cy="2986233"/>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graphicFrame>
        <p:nvGraphicFramePr>
          <p:cNvPr id="8" name="표 7"/>
          <p:cNvGraphicFramePr>
            <a:graphicFrameLocks noGrp="1"/>
          </p:cNvGraphicFramePr>
          <p:nvPr/>
        </p:nvGraphicFramePr>
        <p:xfrm>
          <a:off x="293427" y="1771401"/>
          <a:ext cx="11495578" cy="4901435"/>
        </p:xfrm>
        <a:graphic>
          <a:graphicData uri="http://schemas.openxmlformats.org/drawingml/2006/table">
            <a:tbl>
              <a:tblPr firstRow="1" bandRow="1">
                <a:tableStyleId>{5C22544A-7EE6-4342-B048-85BDC9FD1C3A}</a:tableStyleId>
              </a:tblPr>
              <a:tblGrid>
                <a:gridCol w="2873894"/>
                <a:gridCol w="2873894"/>
                <a:gridCol w="2873894"/>
                <a:gridCol w="2873894"/>
              </a:tblGrid>
              <a:tr h="391099">
                <a:tc gridSpan="4">
                  <a:txBody>
                    <a:bodyPr vert="horz" lIns="91440" tIns="45720" rIns="91440" bIns="45720" anchor="ctr" anchorCtr="0"/>
                    <a:p>
                      <a:pPr algn="ctr" latinLnBrk="1">
                        <a:defRPr/>
                      </a:pPr>
                      <a:r>
                        <a:rPr lang="ko-KR" altLang="en-US">
                          <a:solidFill>
                            <a:schemeClr val="bg1"/>
                          </a:solidFill>
                        </a:rPr>
                        <a:t>기능</a:t>
                      </a:r>
                      <a:r>
                        <a:rPr lang="ko-KR" altLang="en-US" baseline="0">
                          <a:solidFill>
                            <a:schemeClr val="bg1"/>
                          </a:solidFill>
                        </a:rPr>
                        <a:t> </a:t>
                      </a:r>
                      <a:r>
                        <a:rPr lang="ko-KR" altLang="en-US">
                          <a:solidFill>
                            <a:schemeClr val="bg1"/>
                          </a:solidFill>
                        </a:rPr>
                        <a:t>흐름도</a:t>
                      </a:r>
                      <a:endParaRPr lang="ko-KR" altLang="en-US">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6f00"/>
                    </a:solidFill>
                  </a:tcPr>
                </a:tc>
                <a:tc hMerge="1">
                  <a:txBody>
                    <a:bodyPr/>
                    <a:p>
                      <a:pPr algn="ctr" latinLnBrk="1">
                        <a:defRPr/>
                      </a:pPr>
                      <a:endParaRPr lang="ko-KR" altLang="en-US">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6f00"/>
                    </a:solidFill>
                  </a:tcPr>
                </a:tc>
                <a:tc hMerge="1">
                  <a:txBody>
                    <a:bodyPr/>
                    <a:p>
                      <a:pPr algn="ctr" latinLnBrk="1">
                        <a:defRPr/>
                      </a:pPr>
                      <a:endParaRPr lang="ko-KR" altLang="en-US">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6f00"/>
                    </a:solidFill>
                  </a:tcPr>
                </a:tc>
                <a:tc hMerge="1">
                  <a:txBody>
                    <a:bodyPr/>
                    <a:p>
                      <a:pPr algn="ctr" latinLnBrk="1">
                        <a:defRPr/>
                      </a:pPr>
                      <a:endParaRPr lang="ko-KR" altLang="en-US">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6f00"/>
                    </a:solidFill>
                  </a:tcPr>
                </a:tc>
              </a:tr>
              <a:tr h="2985070">
                <a:tc>
                  <a:txBody>
                    <a:bodyPr vert="horz" lIns="91440" tIns="45720" rIns="91440" bIns="45720" anchor="ctr" anchorCtr="0"/>
                    <a:p>
                      <a:pPr marL="0" marR="0" lvl="0" indent="0" algn="ctr" defTabSz="914400" rtl="0" eaLnBrk="1" latinLnBrk="1" hangingPunct="1">
                        <a:lnSpc>
                          <a:spcPct val="100000"/>
                        </a:lnSpc>
                        <a:spcBef>
                          <a:spcPts val="0"/>
                        </a:spcBef>
                        <a:spcAft>
                          <a:spcPts val="0"/>
                        </a:spcAft>
                        <a:buClrTx/>
                        <a:buFontTx/>
                        <a:buNone/>
                        <a:defRPr/>
                      </a:pPr>
                      <a:endParaRPr lang="en-US" altLang="ko-KR" sz="1800" b="0">
                        <a:solidFill>
                          <a:srgbClr val="ff0000"/>
                        </a:solidFill>
                        <a:latin typeface="+mn-lt"/>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marL="0" marR="0" lvl="0" indent="0" algn="ctr" defTabSz="914400" rtl="0" eaLnBrk="1" latinLnBrk="1" hangingPunct="1">
                        <a:lnSpc>
                          <a:spcPct val="100000"/>
                        </a:lnSpc>
                        <a:spcBef>
                          <a:spcPts val="0"/>
                        </a:spcBef>
                        <a:spcAft>
                          <a:spcPts val="0"/>
                        </a:spcAft>
                        <a:buClrTx/>
                        <a:buFontTx/>
                        <a:buNone/>
                        <a:defRPr/>
                      </a:pPr>
                      <a:endParaRPr lang="ko-KR" altLang="en-US"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marL="0" marR="0" lvl="0" indent="0" algn="ctr" defTabSz="914400" rtl="0" eaLnBrk="1" latinLnBrk="1" hangingPunct="1">
                        <a:lnSpc>
                          <a:spcPct val="100000"/>
                        </a:lnSpc>
                        <a:spcBef>
                          <a:spcPts val="0"/>
                        </a:spcBef>
                        <a:spcAft>
                          <a:spcPts val="0"/>
                        </a:spcAft>
                        <a:buClrTx/>
                        <a:buFontTx/>
                        <a:buNone/>
                        <a:defRPr/>
                      </a:pPr>
                      <a:endParaRPr lang="ko-KR" altLang="en-US"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marL="0" marR="0" lvl="0" indent="0" algn="ctr" defTabSz="914400" rtl="0" eaLnBrk="1" latinLnBrk="1" hangingPunct="1">
                        <a:lnSpc>
                          <a:spcPct val="100000"/>
                        </a:lnSpc>
                        <a:spcBef>
                          <a:spcPts val="0"/>
                        </a:spcBef>
                        <a:spcAft>
                          <a:spcPts val="0"/>
                        </a:spcAft>
                        <a:buClrTx/>
                        <a:buFontTx/>
                        <a:buNone/>
                        <a:defRPr/>
                      </a:pPr>
                      <a:endParaRPr lang="ko-KR" altLang="en-US"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1525266">
                <a:tc>
                  <a:txBody>
                    <a:bodyPr vert="horz" lIns="91440" tIns="45720" rIns="91440" bIns="45720" anchor="ctr" anchorCtr="0"/>
                    <a:p>
                      <a:pPr marL="0" marR="0" lvl="0" indent="0" algn="ctr" defTabSz="914400" rtl="0" eaLnBrk="1" latinLnBrk="1" hangingPunct="1">
                        <a:lnSpc>
                          <a:spcPct val="100000"/>
                        </a:lnSpc>
                        <a:spcBef>
                          <a:spcPts val="0"/>
                        </a:spcBef>
                        <a:spcAft>
                          <a:spcPts val="0"/>
                        </a:spcAft>
                        <a:buClrTx/>
                        <a:buFontTx/>
                        <a:buNone/>
                        <a:defRPr/>
                      </a:pPr>
                      <a:r>
                        <a:rPr lang="en-US" altLang="ko-KR" sz="1200" b="0">
                          <a:solidFill>
                            <a:schemeClr val="tx1"/>
                          </a:solidFill>
                          <a:latin typeface="+mn-lt"/>
                        </a:rPr>
                        <a:t>① 사용자가 여행지 목록에서 관심 있는 여행지를 선택합니다.</a:t>
                      </a:r>
                      <a:endParaRPr lang="en-US" altLang="ko-KR" sz="1200" b="0">
                        <a:solidFill>
                          <a:schemeClr val="tx1"/>
                        </a:solidFill>
                        <a:latin typeface="+mn-lt"/>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algn="ctr" latinLnBrk="1">
                        <a:defRPr/>
                      </a:pPr>
                      <a:r>
                        <a:rPr lang="ko-KR" altLang="en-US" sz="1200" b="0">
                          <a:solidFill>
                            <a:schemeClr val="tx1"/>
                          </a:solidFill>
                        </a:rPr>
                        <a:t>② 한국관광공사 TourAPI 기반 상세 정보와 이미지를 확인합니다.</a:t>
                      </a:r>
                      <a:endParaRPr lang="ko-KR" altLang="en-US" sz="12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algn="ctr" latinLnBrk="1">
                        <a:defRPr/>
                      </a:pPr>
                      <a:r>
                        <a:rPr lang="ko-KR" altLang="en-US" sz="1200" b="0">
                          <a:solidFill>
                            <a:schemeClr val="tx1"/>
                          </a:solidFill>
                        </a:rPr>
                        <a:t>③ 카카오 지도에서 여행지 위치와 주변 정보를 확인합니다.</a:t>
                      </a:r>
                      <a:endParaRPr lang="ko-KR" altLang="en-US" sz="12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algn="ctr" latinLnBrk="1">
                        <a:defRPr/>
                      </a:pPr>
                      <a:r>
                        <a:rPr lang="ko-KR" altLang="en-US" sz="1200" b="0">
                          <a:solidFill>
                            <a:schemeClr val="tx1"/>
                          </a:solidFill>
                        </a:rPr>
                        <a:t>④ 관심 여행지는 찜으로 저장하거나 목록으로 돌아가 다른 여행지를 탐색합니다.</a:t>
                      </a:r>
                      <a:endParaRPr lang="ko-KR" altLang="en-US" sz="12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bl>
          </a:graphicData>
        </a:graphic>
      </p:graphicFrame>
      <p:graphicFrame>
        <p:nvGraphicFramePr>
          <p:cNvPr id="15" name="표 14"/>
          <p:cNvGraphicFramePr>
            <a:graphicFrameLocks noGrp="1"/>
          </p:cNvGraphicFramePr>
          <p:nvPr/>
        </p:nvGraphicFramePr>
        <p:xfrm>
          <a:off x="302952" y="911455"/>
          <a:ext cx="11481053" cy="782955"/>
        </p:xfrm>
        <a:graphic>
          <a:graphicData uri="http://schemas.openxmlformats.org/drawingml/2006/table">
            <a:tbl>
              <a:tblPr firstRow="1" bandRow="1">
                <a:tableStyleId>{5C22544A-7EE6-4342-B048-85BDC9FD1C3A}</a:tableStyleId>
              </a:tblPr>
              <a:tblGrid>
                <a:gridCol w="1792222"/>
                <a:gridCol w="9688830"/>
              </a:tblGrid>
              <a:tr h="291465">
                <a:tc>
                  <a:txBody>
                    <a:bodyPr vert="horz" lIns="91440" tIns="45720" rIns="91440" bIns="45720" anchor="ctr" anchorCtr="0"/>
                    <a:p>
                      <a:pPr algn="ctr" latinLnBrk="1">
                        <a:defRPr/>
                      </a:pPr>
                      <a:r>
                        <a:rPr lang="ko-KR" altLang="en-US" sz="1300" b="1">
                          <a:solidFill>
                            <a:schemeClr val="bg1"/>
                          </a:solidFill>
                        </a:rPr>
                        <a:t>핵심 기능</a:t>
                      </a:r>
                      <a:r>
                        <a:rPr lang="en-US" altLang="ko-KR" sz="1300" b="1">
                          <a:solidFill>
                            <a:schemeClr val="bg1"/>
                          </a:solidFill>
                        </a:rPr>
                        <a:t>2</a:t>
                      </a:r>
                      <a:endParaRPr lang="en-US" altLang="ko-KR" sz="1300"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latinLnBrk="1">
                        <a:defRPr/>
                      </a:pPr>
                      <a:r>
                        <a:rPr lang="ko-KR" altLang="ko-KR" sz="1300" b="0">
                          <a:solidFill>
                            <a:schemeClr val="tx1"/>
                          </a:solidFill>
                        </a:rPr>
                        <a:t>여행지 상세 정보 조회</a:t>
                      </a:r>
                      <a:endParaRPr lang="ko-KR" altLang="ko-KR" sz="13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491490">
                <a:tc>
                  <a:txBody>
                    <a:bodyPr vert="horz" lIns="91440" tIns="45720" rIns="91440" bIns="45720" anchor="ctr" anchorCtr="0"/>
                    <a:p>
                      <a:pPr algn="ctr" latinLnBrk="1">
                        <a:defRPr/>
                      </a:pPr>
                      <a:r>
                        <a:rPr lang="ko-KR" altLang="en-US" sz="1300" b="1">
                          <a:solidFill>
                            <a:schemeClr val="bg1"/>
                          </a:solidFill>
                        </a:rPr>
                        <a:t>기능 설명</a:t>
                      </a:r>
                      <a:endParaRPr lang="ko-KR" altLang="en-US" sz="1300"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marL="0" marR="0" lvl="0" indent="0" algn="l" defTabSz="914400" rtl="0" eaLnBrk="1" latinLnBrk="1" hangingPunct="1">
                        <a:lnSpc>
                          <a:spcPct val="100000"/>
                        </a:lnSpc>
                        <a:spcBef>
                          <a:spcPts val="0"/>
                        </a:spcBef>
                        <a:spcAft>
                          <a:spcPts val="0"/>
                        </a:spcAft>
                        <a:buClrTx/>
                        <a:buFontTx/>
                        <a:buNone/>
                        <a:defRPr/>
                      </a:pPr>
                      <a:r>
                        <a:rPr lang="ko-KR" altLang="ko-KR" sz="1300" b="0">
                          <a:solidFill>
                            <a:schemeClr val="tx1"/>
                          </a:solidFill>
                        </a:rPr>
                        <a:t>사용자가 여행지 목록에서 선택한 장소의 상세 설명, 이미지, 주소, 연락처, 이용 정보와 카카오 지도 기반 위치 정보를 확인할 수 있는 기능입니다.</a:t>
                      </a:r>
                      <a:endParaRPr lang="ko-KR" altLang="ko-KR" sz="13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bl>
          </a:graphicData>
        </a:graphic>
      </p:graphicFrame>
      <p:pic>
        <p:nvPicPr>
          <p:cNvPr id="29" name=""/>
          <p:cNvPicPr>
            <a:picLocks noChangeAspect="1"/>
          </p:cNvPicPr>
          <p:nvPr/>
        </p:nvPicPr>
        <p:blipFill rotWithShape="1">
          <a:blip r:embed="rId2"/>
          <a:stretch>
            <a:fillRect/>
          </a:stretch>
        </p:blipFill>
        <p:spPr>
          <a:xfrm>
            <a:off x="3219450" y="2303168"/>
            <a:ext cx="2876550" cy="2891290"/>
          </a:xfrm>
          <a:prstGeom prst="rect">
            <a:avLst/>
          </a:prstGeom>
        </p:spPr>
      </p:pic>
      <p:pic>
        <p:nvPicPr>
          <p:cNvPr id="30" name=""/>
          <p:cNvPicPr>
            <a:picLocks noChangeAspect="1"/>
          </p:cNvPicPr>
          <p:nvPr/>
        </p:nvPicPr>
        <p:blipFill rotWithShape="1">
          <a:blip r:embed="rId3"/>
          <a:srcRect l="6010"/>
          <a:stretch>
            <a:fillRect/>
          </a:stretch>
        </p:blipFill>
        <p:spPr>
          <a:xfrm>
            <a:off x="334225" y="2186196"/>
            <a:ext cx="2770925" cy="3047585"/>
          </a:xfrm>
          <a:prstGeom prst="rect">
            <a:avLst/>
          </a:prstGeom>
        </p:spPr>
      </p:pic>
      <p:pic>
        <p:nvPicPr>
          <p:cNvPr id="31" name=""/>
          <p:cNvPicPr>
            <a:picLocks noChangeAspect="1"/>
          </p:cNvPicPr>
          <p:nvPr/>
        </p:nvPicPr>
        <p:blipFill rotWithShape="1">
          <a:blip r:embed="rId4"/>
          <a:stretch>
            <a:fillRect/>
          </a:stretch>
        </p:blipFill>
        <p:spPr>
          <a:xfrm>
            <a:off x="6096000" y="2225975"/>
            <a:ext cx="2731154" cy="2976699"/>
          </a:xfrm>
          <a:prstGeom prst="rect">
            <a:avLst/>
          </a:prstGeom>
        </p:spPr>
      </p:pic>
      <p:pic>
        <p:nvPicPr>
          <p:cNvPr id="33" name=""/>
          <p:cNvPicPr>
            <a:picLocks noChangeAspect="1"/>
          </p:cNvPicPr>
          <p:nvPr/>
        </p:nvPicPr>
        <p:blipFill rotWithShape="1">
          <a:blip r:embed="rId5"/>
          <a:stretch>
            <a:fillRect/>
          </a:stretch>
        </p:blipFill>
        <p:spPr>
          <a:xfrm>
            <a:off x="8797328" y="2200276"/>
            <a:ext cx="2842223" cy="2839099"/>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graphicFrame>
        <p:nvGraphicFramePr>
          <p:cNvPr id="8" name="표 7"/>
          <p:cNvGraphicFramePr>
            <a:graphicFrameLocks noGrp="1"/>
          </p:cNvGraphicFramePr>
          <p:nvPr/>
        </p:nvGraphicFramePr>
        <p:xfrm>
          <a:off x="293427" y="1771401"/>
          <a:ext cx="11495576" cy="4901435"/>
        </p:xfrm>
        <a:graphic>
          <a:graphicData uri="http://schemas.openxmlformats.org/drawingml/2006/table">
            <a:tbl>
              <a:tblPr firstRow="1" bandRow="1">
                <a:tableStyleId>{5C22544A-7EE6-4342-B048-85BDC9FD1C3A}</a:tableStyleId>
              </a:tblPr>
              <a:tblGrid>
                <a:gridCol w="2873894"/>
                <a:gridCol w="2873894"/>
                <a:gridCol w="2873894"/>
                <a:gridCol w="2873894"/>
              </a:tblGrid>
              <a:tr h="391099">
                <a:tc gridSpan="4">
                  <a:txBody>
                    <a:bodyPr vert="horz" lIns="91440" tIns="45720" rIns="91440" bIns="45720" anchor="ctr" anchorCtr="0"/>
                    <a:p>
                      <a:pPr algn="ctr" latinLnBrk="1">
                        <a:defRPr/>
                      </a:pPr>
                      <a:r>
                        <a:rPr lang="ko-KR" altLang="en-US">
                          <a:solidFill>
                            <a:schemeClr val="bg1"/>
                          </a:solidFill>
                        </a:rPr>
                        <a:t>기능</a:t>
                      </a:r>
                      <a:r>
                        <a:rPr lang="ko-KR" altLang="en-US" baseline="0">
                          <a:solidFill>
                            <a:schemeClr val="bg1"/>
                          </a:solidFill>
                        </a:rPr>
                        <a:t> </a:t>
                      </a:r>
                      <a:r>
                        <a:rPr lang="ko-KR" altLang="en-US">
                          <a:solidFill>
                            <a:schemeClr val="bg1"/>
                          </a:solidFill>
                        </a:rPr>
                        <a:t>흐름도</a:t>
                      </a:r>
                      <a:endParaRPr lang="ko-KR" altLang="en-US">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6f00"/>
                    </a:solidFill>
                  </a:tcPr>
                </a:tc>
                <a:tc hMerge="1">
                  <a:txBody>
                    <a:bodyPr/>
                    <a:p>
                      <a:pPr algn="ctr" latinLnBrk="1">
                        <a:defRPr/>
                      </a:pPr>
                      <a:endParaRPr lang="ko-KR" altLang="en-US">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6f00"/>
                    </a:solidFill>
                  </a:tcPr>
                </a:tc>
                <a:tc hMerge="1">
                  <a:txBody>
                    <a:bodyPr/>
                    <a:p>
                      <a:pPr algn="ctr" latinLnBrk="1">
                        <a:defRPr/>
                      </a:pPr>
                      <a:endParaRPr lang="ko-KR" altLang="en-US">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6f00"/>
                    </a:solidFill>
                  </a:tcPr>
                </a:tc>
                <a:tc hMerge="1">
                  <a:txBody>
                    <a:bodyPr/>
                    <a:p>
                      <a:pPr algn="ctr" latinLnBrk="1">
                        <a:defRPr/>
                      </a:pPr>
                      <a:endParaRPr lang="ko-KR" altLang="en-US">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6f00"/>
                    </a:solidFill>
                  </a:tcPr>
                </a:tc>
              </a:tr>
              <a:tr h="2985070">
                <a:tc>
                  <a:txBody>
                    <a:bodyPr vert="horz" lIns="91440" tIns="45720" rIns="91440" bIns="45720" anchor="ctr" anchorCtr="0"/>
                    <a:p>
                      <a:pPr marL="0" marR="0" lvl="0" indent="0" algn="ctr" defTabSz="914400" rtl="0" eaLnBrk="1" latinLnBrk="1" hangingPunct="1">
                        <a:lnSpc>
                          <a:spcPct val="100000"/>
                        </a:lnSpc>
                        <a:spcBef>
                          <a:spcPts val="0"/>
                        </a:spcBef>
                        <a:spcAft>
                          <a:spcPts val="0"/>
                        </a:spcAft>
                        <a:buClrTx/>
                        <a:buFontTx/>
                        <a:buNone/>
                        <a:defRPr/>
                      </a:pPr>
                      <a:endParaRPr lang="en-US" altLang="ko-KR" sz="1800" b="0">
                        <a:solidFill>
                          <a:srgbClr val="ff0000"/>
                        </a:solidFill>
                        <a:latin typeface="+mn-lt"/>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marL="0" marR="0" lvl="0" indent="0" algn="ctr" defTabSz="914400" rtl="0" eaLnBrk="1" latinLnBrk="1" hangingPunct="1">
                        <a:lnSpc>
                          <a:spcPct val="100000"/>
                        </a:lnSpc>
                        <a:spcBef>
                          <a:spcPts val="0"/>
                        </a:spcBef>
                        <a:spcAft>
                          <a:spcPts val="0"/>
                        </a:spcAft>
                        <a:buClrTx/>
                        <a:buFontTx/>
                        <a:buNone/>
                        <a:defRPr/>
                      </a:pPr>
                      <a:endParaRPr lang="ko-KR" altLang="en-US"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marL="0" marR="0" lvl="0" indent="0" algn="ctr" defTabSz="914400" rtl="0" eaLnBrk="1" latinLnBrk="1" hangingPunct="1">
                        <a:lnSpc>
                          <a:spcPct val="100000"/>
                        </a:lnSpc>
                        <a:spcBef>
                          <a:spcPts val="0"/>
                        </a:spcBef>
                        <a:spcAft>
                          <a:spcPts val="0"/>
                        </a:spcAft>
                        <a:buClrTx/>
                        <a:buFontTx/>
                        <a:buNone/>
                        <a:defRPr/>
                      </a:pPr>
                      <a:endParaRPr lang="ko-KR" altLang="en-US"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marL="0" marR="0" lvl="0" indent="0" algn="ctr" defTabSz="914400" rtl="0" eaLnBrk="1" latinLnBrk="1" hangingPunct="1">
                        <a:lnSpc>
                          <a:spcPct val="100000"/>
                        </a:lnSpc>
                        <a:spcBef>
                          <a:spcPts val="0"/>
                        </a:spcBef>
                        <a:spcAft>
                          <a:spcPts val="0"/>
                        </a:spcAft>
                        <a:buClrTx/>
                        <a:buFontTx/>
                        <a:buNone/>
                        <a:defRPr/>
                      </a:pPr>
                      <a:endParaRPr lang="ko-KR" altLang="en-US"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1525266">
                <a:tc>
                  <a:txBody>
                    <a:bodyPr vert="horz" lIns="91440" tIns="45720" rIns="91440" bIns="45720" anchor="ctr" anchorCtr="0"/>
                    <a:p>
                      <a:pPr marL="0" marR="0" lvl="0" indent="0" algn="ctr" defTabSz="914400" rtl="0" eaLnBrk="1" latinLnBrk="1" hangingPunct="1">
                        <a:lnSpc>
                          <a:spcPct val="100000"/>
                        </a:lnSpc>
                        <a:spcBef>
                          <a:spcPts val="0"/>
                        </a:spcBef>
                        <a:spcAft>
                          <a:spcPts val="0"/>
                        </a:spcAft>
                        <a:buClrTx/>
                        <a:buFontTx/>
                        <a:buNone/>
                        <a:defRPr/>
                      </a:pPr>
                      <a:r>
                        <a:rPr lang="en-US" altLang="ko-KR" sz="1200" b="0">
                          <a:solidFill>
                            <a:schemeClr val="tx1"/>
                          </a:solidFill>
                          <a:latin typeface="+mn-lt"/>
                        </a:rPr>
                        <a:t>① 로그인 후 관심 여행지를 선택합니다.</a:t>
                      </a:r>
                      <a:endParaRPr lang="en-US" altLang="ko-KR" sz="1200" b="0">
                        <a:solidFill>
                          <a:schemeClr val="tx1"/>
                        </a:solidFill>
                        <a:latin typeface="+mn-lt"/>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algn="ctr" latinLnBrk="1">
                        <a:defRPr/>
                      </a:pPr>
                      <a:r>
                        <a:rPr lang="ko-KR" altLang="en-US" sz="1200" b="0">
                          <a:solidFill>
                            <a:schemeClr val="tx1"/>
                          </a:solidFill>
                        </a:rPr>
                        <a:t>② 여행지를 위시리스트에 저장합니다.</a:t>
                      </a:r>
                      <a:endParaRPr lang="ko-KR" altLang="en-US" sz="12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algn="ctr" latinLnBrk="1">
                        <a:defRPr/>
                      </a:pPr>
                      <a:r>
                        <a:rPr lang="ko-KR" altLang="en-US" sz="1200" b="0">
                          <a:solidFill>
                            <a:schemeClr val="tx1"/>
                          </a:solidFill>
                        </a:rPr>
                        <a:t>③ 저장한 여행지를 폴더별로 분류합니다.</a:t>
                      </a:r>
                      <a:endParaRPr lang="ko-KR" altLang="en-US" sz="12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algn="ctr" latinLnBrk="1">
                        <a:defRPr/>
                      </a:pPr>
                      <a:r>
                        <a:rPr lang="ko-KR" altLang="en-US" sz="1200" b="0">
                          <a:solidFill>
                            <a:schemeClr val="tx1"/>
                          </a:solidFill>
                        </a:rPr>
                        <a:t>④ 메모와 체크리스트로 여행 준비를 관리합니다.</a:t>
                      </a:r>
                      <a:endParaRPr lang="ko-KR" altLang="en-US" sz="12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bl>
          </a:graphicData>
        </a:graphic>
      </p:graphicFrame>
      <p:graphicFrame>
        <p:nvGraphicFramePr>
          <p:cNvPr id="15" name="표 14"/>
          <p:cNvGraphicFramePr>
            <a:graphicFrameLocks noGrp="1"/>
          </p:cNvGraphicFramePr>
          <p:nvPr/>
        </p:nvGraphicFramePr>
        <p:xfrm>
          <a:off x="302952" y="911455"/>
          <a:ext cx="11481052" cy="782955"/>
        </p:xfrm>
        <a:graphic>
          <a:graphicData uri="http://schemas.openxmlformats.org/drawingml/2006/table">
            <a:tbl>
              <a:tblPr firstRow="1" bandRow="1">
                <a:tableStyleId>{5C22544A-7EE6-4342-B048-85BDC9FD1C3A}</a:tableStyleId>
              </a:tblPr>
              <a:tblGrid>
                <a:gridCol w="1792222"/>
                <a:gridCol w="9688830"/>
              </a:tblGrid>
              <a:tr h="291465">
                <a:tc>
                  <a:txBody>
                    <a:bodyPr vert="horz" lIns="91440" tIns="45720" rIns="91440" bIns="45720" anchor="ctr" anchorCtr="0"/>
                    <a:p>
                      <a:pPr algn="ctr" latinLnBrk="1">
                        <a:defRPr/>
                      </a:pPr>
                      <a:r>
                        <a:rPr lang="ko-KR" altLang="en-US" sz="1300" b="1">
                          <a:solidFill>
                            <a:schemeClr val="bg1"/>
                          </a:solidFill>
                        </a:rPr>
                        <a:t>핵심 기능</a:t>
                      </a:r>
                      <a:r>
                        <a:rPr lang="en-US" altLang="ko-KR" sz="1300" b="1">
                          <a:solidFill>
                            <a:schemeClr val="bg1"/>
                          </a:solidFill>
                        </a:rPr>
                        <a:t>3</a:t>
                      </a:r>
                      <a:endParaRPr lang="en-US" altLang="ko-KR" sz="1300"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latinLnBrk="1">
                        <a:defRPr/>
                      </a:pPr>
                      <a:r>
                        <a:rPr lang="ko-KR" altLang="en-US" sz="1300" b="0">
                          <a:solidFill>
                            <a:schemeClr val="tx1"/>
                          </a:solidFill>
                        </a:rPr>
                        <a:t>찜·폴더 기반 여행 계획 관리</a:t>
                      </a:r>
                      <a:endParaRPr lang="ko-KR" altLang="en-US" sz="13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491490">
                <a:tc>
                  <a:txBody>
                    <a:bodyPr vert="horz" lIns="91440" tIns="45720" rIns="91440" bIns="45720" anchor="ctr" anchorCtr="0"/>
                    <a:p>
                      <a:pPr algn="ctr" latinLnBrk="1">
                        <a:defRPr/>
                      </a:pPr>
                      <a:r>
                        <a:rPr lang="ko-KR" altLang="en-US" sz="1300" b="1">
                          <a:solidFill>
                            <a:schemeClr val="bg1"/>
                          </a:solidFill>
                        </a:rPr>
                        <a:t>기능 설명</a:t>
                      </a:r>
                      <a:endParaRPr lang="ko-KR" altLang="en-US" sz="1300"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marL="0" marR="0" lvl="0" indent="0" algn="l" defTabSz="914400" rtl="0" eaLnBrk="1" latinLnBrk="1" hangingPunct="1">
                        <a:lnSpc>
                          <a:spcPct val="100000"/>
                        </a:lnSpc>
                        <a:spcBef>
                          <a:spcPts val="0"/>
                        </a:spcBef>
                        <a:spcAft>
                          <a:spcPts val="0"/>
                        </a:spcAft>
                        <a:buClrTx/>
                        <a:buFontTx/>
                        <a:buNone/>
                        <a:defRPr/>
                      </a:pPr>
                      <a:r>
                        <a:rPr lang="ko-KR" altLang="ko-KR" sz="1300" b="0">
                          <a:solidFill>
                            <a:schemeClr val="tx1"/>
                          </a:solidFill>
                        </a:rPr>
                        <a:t>로그인한 사용자가 관심 있는 여행지를 위시리스트에 저장하고, 여행 목적에 따라 폴더로 분류해 메모와 체크리스트를 함께 관리할 수 있는 기능입니다.</a:t>
                      </a:r>
                      <a:endParaRPr lang="ko-KR" altLang="ko-KR" sz="13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bl>
          </a:graphicData>
        </a:graphic>
      </p:graphicFrame>
      <p:pic>
        <p:nvPicPr>
          <p:cNvPr id="38" name=""/>
          <p:cNvPicPr>
            <a:picLocks noChangeAspect="1"/>
          </p:cNvPicPr>
          <p:nvPr/>
        </p:nvPicPr>
        <p:blipFill rotWithShape="1">
          <a:blip r:embed="rId2"/>
          <a:srcRect l="770" t="1540" b="1320"/>
          <a:stretch>
            <a:fillRect/>
          </a:stretch>
        </p:blipFill>
        <p:spPr>
          <a:xfrm>
            <a:off x="8926208" y="2157138"/>
            <a:ext cx="2869933" cy="2988483"/>
          </a:xfrm>
          <a:prstGeom prst="rect">
            <a:avLst/>
          </a:prstGeom>
        </p:spPr>
      </p:pic>
      <p:pic>
        <p:nvPicPr>
          <p:cNvPr id="40" name=""/>
          <p:cNvPicPr>
            <a:picLocks noChangeAspect="1"/>
          </p:cNvPicPr>
          <p:nvPr/>
        </p:nvPicPr>
        <p:blipFill rotWithShape="1">
          <a:blip r:embed="rId3"/>
          <a:stretch>
            <a:fillRect/>
          </a:stretch>
        </p:blipFill>
        <p:spPr>
          <a:xfrm>
            <a:off x="6051794" y="2161919"/>
            <a:ext cx="2855129" cy="2975242"/>
          </a:xfrm>
          <a:prstGeom prst="rect">
            <a:avLst/>
          </a:prstGeom>
        </p:spPr>
      </p:pic>
      <p:pic>
        <p:nvPicPr>
          <p:cNvPr id="42" name=""/>
          <p:cNvPicPr>
            <a:picLocks noChangeAspect="1"/>
          </p:cNvPicPr>
          <p:nvPr/>
        </p:nvPicPr>
        <p:blipFill rotWithShape="1">
          <a:blip r:embed="rId4"/>
          <a:stretch>
            <a:fillRect/>
          </a:stretch>
        </p:blipFill>
        <p:spPr>
          <a:xfrm>
            <a:off x="3176604" y="2159626"/>
            <a:ext cx="2852257" cy="2982233"/>
          </a:xfrm>
          <a:prstGeom prst="rect">
            <a:avLst/>
          </a:prstGeom>
        </p:spPr>
      </p:pic>
      <p:pic>
        <p:nvPicPr>
          <p:cNvPr id="44" name=""/>
          <p:cNvPicPr>
            <a:picLocks noChangeAspect="1"/>
          </p:cNvPicPr>
          <p:nvPr/>
        </p:nvPicPr>
        <p:blipFill rotWithShape="1">
          <a:blip r:embed="rId5"/>
          <a:stretch>
            <a:fillRect/>
          </a:stretch>
        </p:blipFill>
        <p:spPr>
          <a:xfrm>
            <a:off x="302407" y="2158829"/>
            <a:ext cx="2865217" cy="2979956"/>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graphicFrame>
        <p:nvGraphicFramePr>
          <p:cNvPr id="8" name="표 7"/>
          <p:cNvGraphicFramePr>
            <a:graphicFrameLocks noGrp="1"/>
          </p:cNvGraphicFramePr>
          <p:nvPr/>
        </p:nvGraphicFramePr>
        <p:xfrm>
          <a:off x="293427" y="1771401"/>
          <a:ext cx="11495576" cy="4901435"/>
        </p:xfrm>
        <a:graphic>
          <a:graphicData uri="http://schemas.openxmlformats.org/drawingml/2006/table">
            <a:tbl>
              <a:tblPr firstRow="1" bandRow="1">
                <a:tableStyleId>{5C22544A-7EE6-4342-B048-85BDC9FD1C3A}</a:tableStyleId>
              </a:tblPr>
              <a:tblGrid>
                <a:gridCol w="2873894"/>
                <a:gridCol w="2873894"/>
                <a:gridCol w="2873894"/>
                <a:gridCol w="2873894"/>
              </a:tblGrid>
              <a:tr h="391099">
                <a:tc gridSpan="4">
                  <a:txBody>
                    <a:bodyPr vert="horz" lIns="91440" tIns="45720" rIns="91440" bIns="45720" anchor="ctr" anchorCtr="0"/>
                    <a:p>
                      <a:pPr algn="ctr" latinLnBrk="1">
                        <a:defRPr/>
                      </a:pPr>
                      <a:r>
                        <a:rPr lang="ko-KR" altLang="en-US">
                          <a:solidFill>
                            <a:schemeClr val="bg1"/>
                          </a:solidFill>
                        </a:rPr>
                        <a:t>기능</a:t>
                      </a:r>
                      <a:r>
                        <a:rPr lang="ko-KR" altLang="en-US" baseline="0">
                          <a:solidFill>
                            <a:schemeClr val="bg1"/>
                          </a:solidFill>
                        </a:rPr>
                        <a:t> </a:t>
                      </a:r>
                      <a:r>
                        <a:rPr lang="ko-KR" altLang="en-US">
                          <a:solidFill>
                            <a:schemeClr val="bg1"/>
                          </a:solidFill>
                        </a:rPr>
                        <a:t>흐름도</a:t>
                      </a:r>
                      <a:endParaRPr lang="ko-KR" altLang="en-US">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6f00"/>
                    </a:solidFill>
                  </a:tcPr>
                </a:tc>
                <a:tc hMerge="1">
                  <a:txBody>
                    <a:bodyPr/>
                    <a:p>
                      <a:pPr algn="ctr" latinLnBrk="1">
                        <a:defRPr/>
                      </a:pPr>
                      <a:endParaRPr lang="ko-KR" altLang="en-US">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6f00"/>
                    </a:solidFill>
                  </a:tcPr>
                </a:tc>
                <a:tc hMerge="1">
                  <a:txBody>
                    <a:bodyPr/>
                    <a:p>
                      <a:pPr algn="ctr" latinLnBrk="1">
                        <a:defRPr/>
                      </a:pPr>
                      <a:endParaRPr lang="ko-KR" altLang="en-US">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6f00"/>
                    </a:solidFill>
                  </a:tcPr>
                </a:tc>
                <a:tc hMerge="1">
                  <a:txBody>
                    <a:bodyPr/>
                    <a:p>
                      <a:pPr algn="ctr" latinLnBrk="1">
                        <a:defRPr/>
                      </a:pPr>
                      <a:endParaRPr lang="ko-KR" altLang="en-US">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6f00"/>
                    </a:solidFill>
                  </a:tcPr>
                </a:tc>
              </a:tr>
              <a:tr h="2985070">
                <a:tc>
                  <a:txBody>
                    <a:bodyPr vert="horz" lIns="91440" tIns="45720" rIns="91440" bIns="45720" anchor="ctr" anchorCtr="0"/>
                    <a:p>
                      <a:pPr marL="0" marR="0" lvl="0" indent="0" algn="ctr" defTabSz="914400" rtl="0" eaLnBrk="1" latinLnBrk="1" hangingPunct="1">
                        <a:lnSpc>
                          <a:spcPct val="100000"/>
                        </a:lnSpc>
                        <a:spcBef>
                          <a:spcPts val="0"/>
                        </a:spcBef>
                        <a:spcAft>
                          <a:spcPts val="0"/>
                        </a:spcAft>
                        <a:buClrTx/>
                        <a:buFontTx/>
                        <a:buNone/>
                        <a:defRPr/>
                      </a:pPr>
                      <a:endParaRPr lang="en-US" altLang="ko-KR" sz="1800" b="0">
                        <a:solidFill>
                          <a:srgbClr val="ff0000"/>
                        </a:solidFill>
                        <a:latin typeface="+mn-lt"/>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marL="0" marR="0" lvl="0" indent="0" algn="ctr" defTabSz="914400" rtl="0" eaLnBrk="1" latinLnBrk="1" hangingPunct="1">
                        <a:lnSpc>
                          <a:spcPct val="100000"/>
                        </a:lnSpc>
                        <a:spcBef>
                          <a:spcPts val="0"/>
                        </a:spcBef>
                        <a:spcAft>
                          <a:spcPts val="0"/>
                        </a:spcAft>
                        <a:buClrTx/>
                        <a:buFontTx/>
                        <a:buNone/>
                        <a:defRPr/>
                      </a:pPr>
                      <a:endParaRPr lang="ko-KR" altLang="en-US"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marL="0" marR="0" lvl="0" indent="0" algn="ctr" defTabSz="914400" rtl="0" eaLnBrk="1" latinLnBrk="1" hangingPunct="1">
                        <a:lnSpc>
                          <a:spcPct val="100000"/>
                        </a:lnSpc>
                        <a:spcBef>
                          <a:spcPts val="0"/>
                        </a:spcBef>
                        <a:spcAft>
                          <a:spcPts val="0"/>
                        </a:spcAft>
                        <a:buClrTx/>
                        <a:buFontTx/>
                        <a:buNone/>
                        <a:defRPr/>
                      </a:pPr>
                      <a:endParaRPr lang="ko-KR" altLang="en-US"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marL="0" marR="0" lvl="0" indent="0" algn="ctr" defTabSz="914400" rtl="0" eaLnBrk="1" latinLnBrk="1" hangingPunct="1">
                        <a:lnSpc>
                          <a:spcPct val="100000"/>
                        </a:lnSpc>
                        <a:spcBef>
                          <a:spcPts val="0"/>
                        </a:spcBef>
                        <a:spcAft>
                          <a:spcPts val="0"/>
                        </a:spcAft>
                        <a:buClrTx/>
                        <a:buFontTx/>
                        <a:buNone/>
                        <a:defRPr/>
                      </a:pPr>
                      <a:endParaRPr lang="ko-KR" altLang="en-US"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1525266">
                <a:tc>
                  <a:txBody>
                    <a:bodyPr vert="horz" lIns="91440" tIns="45720" rIns="91440" bIns="45720" anchor="ctr" anchorCtr="0"/>
                    <a:p>
                      <a:pPr marL="0" marR="0" lvl="0" indent="0" algn="ctr" defTabSz="914400" rtl="0" eaLnBrk="1" latinLnBrk="1" hangingPunct="1">
                        <a:lnSpc>
                          <a:spcPct val="100000"/>
                        </a:lnSpc>
                        <a:spcBef>
                          <a:spcPts val="0"/>
                        </a:spcBef>
                        <a:spcAft>
                          <a:spcPts val="0"/>
                        </a:spcAft>
                        <a:buClrTx/>
                        <a:buFontTx/>
                        <a:buNone/>
                        <a:defRPr/>
                      </a:pPr>
                      <a:r>
                        <a:rPr lang="en-US" altLang="ko-KR" sz="1200" b="0">
                          <a:solidFill>
                            <a:schemeClr val="tx1"/>
                          </a:solidFill>
                          <a:latin typeface="+mn-lt"/>
                        </a:rPr>
                        <a:t>① 사용자가 여행 지역, 일정, 동행자, 선호 조건을 입력합니다.</a:t>
                      </a:r>
                      <a:endParaRPr lang="en-US" altLang="ko-KR" sz="1200" b="0">
                        <a:solidFill>
                          <a:schemeClr val="tx1"/>
                        </a:solidFill>
                        <a:latin typeface="+mn-lt"/>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algn="ctr" latinLnBrk="1">
                        <a:defRPr/>
                      </a:pPr>
                      <a:r>
                        <a:rPr lang="ko-KR" altLang="en-US" sz="1200" b="0">
                          <a:solidFill>
                            <a:schemeClr val="tx1"/>
                          </a:solidFill>
                        </a:rPr>
                        <a:t>② Gemini API가 입력 조건을 바탕으로 여행 일정 초안을 생성합니다.</a:t>
                      </a:r>
                      <a:endParaRPr lang="ko-KR" altLang="en-US" sz="12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algn="ctr" latinLnBrk="1">
                        <a:defRPr/>
                      </a:pPr>
                      <a:r>
                        <a:rPr lang="ko-KR" altLang="en-US" sz="1200" b="0">
                          <a:solidFill>
                            <a:schemeClr val="tx1"/>
                          </a:solidFill>
                        </a:rPr>
                        <a:t>③ 생성된 일정에서 TourAPI 검증 장소와 AI 추천 장소를 구분합니다.</a:t>
                      </a:r>
                      <a:endParaRPr lang="ko-KR" altLang="en-US" sz="12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algn="ctr" latinLnBrk="1">
                        <a:defRPr/>
                      </a:pPr>
                      <a:r>
                        <a:rPr lang="ko-KR" altLang="en-US" sz="1200" b="0">
                          <a:solidFill>
                            <a:schemeClr val="tx1"/>
                          </a:solidFill>
                        </a:rPr>
                        <a:t>④ 사용자가 생성된 여행 일정을 폴더에 저장하고 이후 다시 확인합니다.</a:t>
                      </a:r>
                      <a:endParaRPr lang="ko-KR" altLang="en-US" sz="12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bl>
          </a:graphicData>
        </a:graphic>
      </p:graphicFrame>
      <p:graphicFrame>
        <p:nvGraphicFramePr>
          <p:cNvPr id="15" name="표 14"/>
          <p:cNvGraphicFramePr>
            <a:graphicFrameLocks noGrp="1"/>
          </p:cNvGraphicFramePr>
          <p:nvPr/>
        </p:nvGraphicFramePr>
        <p:xfrm>
          <a:off x="302952" y="911455"/>
          <a:ext cx="11481052" cy="782955"/>
        </p:xfrm>
        <a:graphic>
          <a:graphicData uri="http://schemas.openxmlformats.org/drawingml/2006/table">
            <a:tbl>
              <a:tblPr firstRow="1" bandRow="1">
                <a:tableStyleId>{5C22544A-7EE6-4342-B048-85BDC9FD1C3A}</a:tableStyleId>
              </a:tblPr>
              <a:tblGrid>
                <a:gridCol w="1792222"/>
                <a:gridCol w="9688830"/>
              </a:tblGrid>
              <a:tr h="291465">
                <a:tc>
                  <a:txBody>
                    <a:bodyPr vert="horz" lIns="91440" tIns="45720" rIns="91440" bIns="45720" anchor="ctr" anchorCtr="0"/>
                    <a:p>
                      <a:pPr algn="ctr" latinLnBrk="1">
                        <a:defRPr/>
                      </a:pPr>
                      <a:r>
                        <a:rPr lang="ko-KR" altLang="en-US" sz="1300" b="1">
                          <a:solidFill>
                            <a:schemeClr val="bg1"/>
                          </a:solidFill>
                        </a:rPr>
                        <a:t>핵심 기능</a:t>
                      </a:r>
                      <a:r>
                        <a:rPr lang="en-US" altLang="ko-KR" sz="1300" b="1">
                          <a:solidFill>
                            <a:schemeClr val="bg1"/>
                          </a:solidFill>
                        </a:rPr>
                        <a:t>4</a:t>
                      </a:r>
                      <a:endParaRPr lang="en-US" altLang="ko-KR" sz="1300"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latinLnBrk="1">
                        <a:defRPr/>
                      </a:pPr>
                      <a:r>
                        <a:rPr lang="ko-KR" altLang="en-US" sz="1300" b="0">
                          <a:solidFill>
                            <a:schemeClr val="tx1"/>
                          </a:solidFill>
                        </a:rPr>
                        <a:t>AI 기반 여행 일정 생성</a:t>
                      </a:r>
                      <a:endParaRPr lang="ko-KR" altLang="en-US" sz="13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491490">
                <a:tc>
                  <a:txBody>
                    <a:bodyPr vert="horz" lIns="91440" tIns="45720" rIns="91440" bIns="45720" anchor="ctr" anchorCtr="0"/>
                    <a:p>
                      <a:pPr algn="ctr" latinLnBrk="1">
                        <a:defRPr/>
                      </a:pPr>
                      <a:r>
                        <a:rPr lang="ko-KR" altLang="en-US" sz="1300" b="1">
                          <a:solidFill>
                            <a:schemeClr val="bg1"/>
                          </a:solidFill>
                        </a:rPr>
                        <a:t>기능 설명</a:t>
                      </a:r>
                      <a:endParaRPr lang="ko-KR" altLang="en-US" sz="1300"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marL="0" marR="0" lvl="0" indent="0" algn="l" defTabSz="914400" rtl="0" eaLnBrk="1" latinLnBrk="1" hangingPunct="1">
                        <a:lnSpc>
                          <a:spcPct val="100000"/>
                        </a:lnSpc>
                        <a:spcBef>
                          <a:spcPts val="0"/>
                        </a:spcBef>
                        <a:spcAft>
                          <a:spcPts val="0"/>
                        </a:spcAft>
                        <a:buClrTx/>
                        <a:buFontTx/>
                        <a:buNone/>
                        <a:defRPr/>
                      </a:pPr>
                      <a:r>
                        <a:rPr lang="ko-KR" altLang="ko-KR" sz="1300" b="0">
                          <a:solidFill>
                            <a:schemeClr val="tx1"/>
                          </a:solidFill>
                        </a:rPr>
                        <a:t>사용자가 여행 지역, 일정, 동행자, 선호 조건을 입력하면 Gemini API가 여행 코스 초안을 생성하고, 한국관광공사 TourAPI 데이터와 연결 가능한 장소를 구분해 저장할 수 있는 기능입니다.</a:t>
                      </a:r>
                      <a:endParaRPr lang="ko-KR" altLang="ko-KR" sz="13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bl>
          </a:graphicData>
        </a:graphic>
      </p:graphicFrame>
      <p:pic>
        <p:nvPicPr>
          <p:cNvPr id="42" name=""/>
          <p:cNvPicPr>
            <a:picLocks noChangeAspect="1"/>
          </p:cNvPicPr>
          <p:nvPr/>
        </p:nvPicPr>
        <p:blipFill rotWithShape="1">
          <a:blip r:embed="rId2"/>
          <a:stretch>
            <a:fillRect/>
          </a:stretch>
        </p:blipFill>
        <p:spPr>
          <a:xfrm>
            <a:off x="301767" y="2175743"/>
            <a:ext cx="2863566" cy="2966966"/>
          </a:xfrm>
          <a:prstGeom prst="rect">
            <a:avLst/>
          </a:prstGeom>
        </p:spPr>
      </p:pic>
      <p:pic>
        <p:nvPicPr>
          <p:cNvPr id="43" name=""/>
          <p:cNvPicPr>
            <a:picLocks noChangeAspect="1"/>
          </p:cNvPicPr>
          <p:nvPr/>
        </p:nvPicPr>
        <p:blipFill rotWithShape="1">
          <a:blip r:embed="rId3"/>
          <a:srcRect l="19980"/>
          <a:stretch>
            <a:fillRect/>
          </a:stretch>
        </p:blipFill>
        <p:spPr>
          <a:xfrm>
            <a:off x="3171448" y="2171448"/>
            <a:ext cx="2853114" cy="2967213"/>
          </a:xfrm>
          <a:prstGeom prst="rect">
            <a:avLst/>
          </a:prstGeom>
        </p:spPr>
      </p:pic>
      <p:pic>
        <p:nvPicPr>
          <p:cNvPr id="44" name=""/>
          <p:cNvPicPr>
            <a:picLocks noChangeAspect="1"/>
          </p:cNvPicPr>
          <p:nvPr/>
        </p:nvPicPr>
        <p:blipFill rotWithShape="1">
          <a:blip r:embed="rId4"/>
          <a:stretch>
            <a:fillRect/>
          </a:stretch>
        </p:blipFill>
        <p:spPr>
          <a:xfrm>
            <a:off x="6040532" y="2175092"/>
            <a:ext cx="2865599" cy="2963314"/>
          </a:xfrm>
          <a:prstGeom prst="rect">
            <a:avLst/>
          </a:prstGeom>
        </p:spPr>
      </p:pic>
      <p:pic>
        <p:nvPicPr>
          <p:cNvPr id="46" name=""/>
          <p:cNvPicPr>
            <a:picLocks noChangeAspect="1"/>
          </p:cNvPicPr>
          <p:nvPr/>
        </p:nvPicPr>
        <p:blipFill rotWithShape="1">
          <a:blip r:embed="rId5"/>
          <a:srcRect r="54110"/>
          <a:stretch>
            <a:fillRect/>
          </a:stretch>
        </p:blipFill>
        <p:spPr>
          <a:xfrm>
            <a:off x="8916348" y="2166386"/>
            <a:ext cx="2862256" cy="2976422"/>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graphicFrame>
        <p:nvGraphicFramePr>
          <p:cNvPr id="8" name="표 7"/>
          <p:cNvGraphicFramePr>
            <a:graphicFrameLocks noGrp="1"/>
          </p:cNvGraphicFramePr>
          <p:nvPr/>
        </p:nvGraphicFramePr>
        <p:xfrm>
          <a:off x="293427" y="1771401"/>
          <a:ext cx="11495576" cy="4901435"/>
        </p:xfrm>
        <a:graphic>
          <a:graphicData uri="http://schemas.openxmlformats.org/drawingml/2006/table">
            <a:tbl>
              <a:tblPr firstRow="1" bandRow="1">
                <a:tableStyleId>{5C22544A-7EE6-4342-B048-85BDC9FD1C3A}</a:tableStyleId>
              </a:tblPr>
              <a:tblGrid>
                <a:gridCol w="2873894"/>
                <a:gridCol w="2873894"/>
                <a:gridCol w="2873894"/>
                <a:gridCol w="2873894"/>
              </a:tblGrid>
              <a:tr h="391099">
                <a:tc gridSpan="4">
                  <a:txBody>
                    <a:bodyPr vert="horz" lIns="91440" tIns="45720" rIns="91440" bIns="45720" anchor="ctr" anchorCtr="0"/>
                    <a:p>
                      <a:pPr algn="ctr" latinLnBrk="1">
                        <a:defRPr/>
                      </a:pPr>
                      <a:r>
                        <a:rPr lang="ko-KR" altLang="en-US">
                          <a:solidFill>
                            <a:schemeClr val="bg1"/>
                          </a:solidFill>
                        </a:rPr>
                        <a:t>기능</a:t>
                      </a:r>
                      <a:r>
                        <a:rPr lang="ko-KR" altLang="en-US" baseline="0">
                          <a:solidFill>
                            <a:schemeClr val="bg1"/>
                          </a:solidFill>
                        </a:rPr>
                        <a:t> </a:t>
                      </a:r>
                      <a:r>
                        <a:rPr lang="ko-KR" altLang="en-US">
                          <a:solidFill>
                            <a:schemeClr val="bg1"/>
                          </a:solidFill>
                        </a:rPr>
                        <a:t>흐름도</a:t>
                      </a:r>
                      <a:endParaRPr lang="ko-KR" altLang="en-US">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6f00"/>
                    </a:solidFill>
                  </a:tcPr>
                </a:tc>
                <a:tc hMerge="1">
                  <a:txBody>
                    <a:bodyPr/>
                    <a:p>
                      <a:pPr algn="ctr" latinLnBrk="1">
                        <a:defRPr/>
                      </a:pPr>
                      <a:endParaRPr lang="ko-KR" altLang="en-US">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6f00"/>
                    </a:solidFill>
                  </a:tcPr>
                </a:tc>
                <a:tc hMerge="1">
                  <a:txBody>
                    <a:bodyPr/>
                    <a:p>
                      <a:pPr algn="ctr" latinLnBrk="1">
                        <a:defRPr/>
                      </a:pPr>
                      <a:endParaRPr lang="ko-KR" altLang="en-US">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6f00"/>
                    </a:solidFill>
                  </a:tcPr>
                </a:tc>
                <a:tc hMerge="1">
                  <a:txBody>
                    <a:bodyPr/>
                    <a:p>
                      <a:pPr algn="ctr" latinLnBrk="1">
                        <a:defRPr/>
                      </a:pPr>
                      <a:endParaRPr lang="ko-KR" altLang="en-US">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6f00"/>
                    </a:solidFill>
                  </a:tcPr>
                </a:tc>
              </a:tr>
              <a:tr h="2985070">
                <a:tc>
                  <a:txBody>
                    <a:bodyPr vert="horz" lIns="91440" tIns="45720" rIns="91440" bIns="45720" anchor="ctr" anchorCtr="0"/>
                    <a:p>
                      <a:pPr marL="0" marR="0" lvl="0" indent="0" algn="ctr" defTabSz="914400" rtl="0" eaLnBrk="1" latinLnBrk="1" hangingPunct="1">
                        <a:lnSpc>
                          <a:spcPct val="100000"/>
                        </a:lnSpc>
                        <a:spcBef>
                          <a:spcPts val="0"/>
                        </a:spcBef>
                        <a:spcAft>
                          <a:spcPts val="0"/>
                        </a:spcAft>
                        <a:buClrTx/>
                        <a:buFontTx/>
                        <a:buNone/>
                        <a:defRPr/>
                      </a:pPr>
                      <a:endParaRPr lang="en-US" altLang="ko-KR" sz="1800" b="0">
                        <a:solidFill>
                          <a:srgbClr val="ff0000"/>
                        </a:solidFill>
                        <a:latin typeface="+mn-lt"/>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marL="0" marR="0" lvl="0" indent="0" algn="ctr" defTabSz="914400" rtl="0" eaLnBrk="1" latinLnBrk="1" hangingPunct="1">
                        <a:lnSpc>
                          <a:spcPct val="100000"/>
                        </a:lnSpc>
                        <a:spcBef>
                          <a:spcPts val="0"/>
                        </a:spcBef>
                        <a:spcAft>
                          <a:spcPts val="0"/>
                        </a:spcAft>
                        <a:buClrTx/>
                        <a:buFontTx/>
                        <a:buNone/>
                        <a:defRPr/>
                      </a:pPr>
                      <a:endParaRPr lang="ko-KR" altLang="en-US"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marL="0" marR="0" lvl="0" indent="0" algn="ctr" defTabSz="914400" rtl="0" eaLnBrk="1" latinLnBrk="1" hangingPunct="1">
                        <a:lnSpc>
                          <a:spcPct val="100000"/>
                        </a:lnSpc>
                        <a:spcBef>
                          <a:spcPts val="0"/>
                        </a:spcBef>
                        <a:spcAft>
                          <a:spcPts val="0"/>
                        </a:spcAft>
                        <a:buClrTx/>
                        <a:buFontTx/>
                        <a:buNone/>
                        <a:defRPr/>
                      </a:pPr>
                      <a:endParaRPr lang="ko-KR" altLang="en-US"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marL="0" marR="0" lvl="0" indent="0" algn="ctr" defTabSz="914400" rtl="0" eaLnBrk="1" latinLnBrk="1" hangingPunct="1">
                        <a:lnSpc>
                          <a:spcPct val="100000"/>
                        </a:lnSpc>
                        <a:spcBef>
                          <a:spcPts val="0"/>
                        </a:spcBef>
                        <a:spcAft>
                          <a:spcPts val="0"/>
                        </a:spcAft>
                        <a:buClrTx/>
                        <a:buFontTx/>
                        <a:buNone/>
                        <a:defRPr/>
                      </a:pPr>
                      <a:endParaRPr lang="ko-KR" altLang="en-US"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1525266">
                <a:tc>
                  <a:txBody>
                    <a:bodyPr vert="horz" lIns="91440" tIns="45720" rIns="91440" bIns="45720" anchor="ctr" anchorCtr="0"/>
                    <a:p>
                      <a:pPr marL="0" marR="0" lvl="0" indent="0" algn="ctr" defTabSz="914400" rtl="0" eaLnBrk="1" latinLnBrk="1" hangingPunct="1">
                        <a:lnSpc>
                          <a:spcPct val="100000"/>
                        </a:lnSpc>
                        <a:spcBef>
                          <a:spcPts val="0"/>
                        </a:spcBef>
                        <a:spcAft>
                          <a:spcPts val="0"/>
                        </a:spcAft>
                        <a:buClrTx/>
                        <a:buFontTx/>
                        <a:buNone/>
                        <a:defRPr/>
                      </a:pPr>
                      <a:r>
                        <a:rPr lang="en-US" altLang="ko-KR" sz="1200" b="0">
                          <a:solidFill>
                            <a:schemeClr val="tx1"/>
                          </a:solidFill>
                          <a:latin typeface="+mn-lt"/>
                        </a:rPr>
                        <a:t>① 사용자가 커뮤니티에서 여행 게시글을 탐색합니다.</a:t>
                      </a:r>
                      <a:endParaRPr lang="en-US" altLang="ko-KR" sz="1200" b="0">
                        <a:solidFill>
                          <a:schemeClr val="tx1"/>
                        </a:solidFill>
                        <a:latin typeface="+mn-lt"/>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algn="ctr" latinLnBrk="1">
                        <a:defRPr/>
                      </a:pPr>
                      <a:r>
                        <a:rPr lang="ko-KR" altLang="en-US" sz="1200" b="0">
                          <a:solidFill>
                            <a:schemeClr val="tx1"/>
                          </a:solidFill>
                        </a:rPr>
                        <a:t>② 여행 경험이나 추천 장소를 게시글로 작성하고 댓글·좋아요로 소통합니다.</a:t>
                      </a:r>
                      <a:endParaRPr lang="ko-KR" altLang="en-US" sz="12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algn="ctr" latinLnBrk="1">
                        <a:defRPr/>
                      </a:pPr>
                      <a:r>
                        <a:rPr lang="ko-KR" altLang="en-US" sz="1200" b="0">
                          <a:solidFill>
                            <a:schemeClr val="tx1"/>
                          </a:solidFill>
                        </a:rPr>
                        <a:t>③ 작성자는 본인이 작성한 게시글과 댓글을 수정하거나 삭제할 수 있습니다.</a:t>
                      </a:r>
                      <a:endParaRPr lang="ko-KR" altLang="en-US" sz="12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c>
                  <a:txBody>
                    <a:bodyPr vert="horz" lIns="91440" tIns="45720" rIns="91440" bIns="45720" anchor="ctr" anchorCtr="0"/>
                    <a:p>
                      <a:pPr algn="ctr" latinLnBrk="1">
                        <a:defRPr/>
                      </a:pPr>
                      <a:r>
                        <a:rPr lang="ko-KR" altLang="en-US" sz="1200" b="0">
                          <a:solidFill>
                            <a:schemeClr val="tx1"/>
                          </a:solidFill>
                        </a:rPr>
                        <a:t>④ 마이페이지에서 게시글, 댓글, 좋아요 등 자신의 활동 내역을 확인합니다.</a:t>
                      </a:r>
                      <a:endParaRPr lang="ko-KR" altLang="en-US" sz="12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bl>
          </a:graphicData>
        </a:graphic>
      </p:graphicFrame>
      <p:graphicFrame>
        <p:nvGraphicFramePr>
          <p:cNvPr id="15" name="표 14"/>
          <p:cNvGraphicFramePr>
            <a:graphicFrameLocks noGrp="1"/>
          </p:cNvGraphicFramePr>
          <p:nvPr/>
        </p:nvGraphicFramePr>
        <p:xfrm>
          <a:off x="302952" y="911455"/>
          <a:ext cx="11481052" cy="782955"/>
        </p:xfrm>
        <a:graphic>
          <a:graphicData uri="http://schemas.openxmlformats.org/drawingml/2006/table">
            <a:tbl>
              <a:tblPr firstRow="1" bandRow="1">
                <a:tableStyleId>{5C22544A-7EE6-4342-B048-85BDC9FD1C3A}</a:tableStyleId>
              </a:tblPr>
              <a:tblGrid>
                <a:gridCol w="1792222"/>
                <a:gridCol w="9688830"/>
              </a:tblGrid>
              <a:tr h="291465">
                <a:tc>
                  <a:txBody>
                    <a:bodyPr vert="horz" lIns="91440" tIns="45720" rIns="91440" bIns="45720" anchor="ctr" anchorCtr="0"/>
                    <a:p>
                      <a:pPr algn="ctr" latinLnBrk="1">
                        <a:defRPr/>
                      </a:pPr>
                      <a:r>
                        <a:rPr lang="ko-KR" altLang="en-US" sz="1300" b="1">
                          <a:solidFill>
                            <a:schemeClr val="bg1"/>
                          </a:solidFill>
                        </a:rPr>
                        <a:t>핵심 기능</a:t>
                      </a:r>
                      <a:r>
                        <a:rPr lang="en-US" altLang="ko-KR" sz="1300" b="1">
                          <a:solidFill>
                            <a:schemeClr val="bg1"/>
                          </a:solidFill>
                        </a:rPr>
                        <a:t>5</a:t>
                      </a:r>
                      <a:endParaRPr lang="en-US" altLang="ko-KR" sz="1300"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latinLnBrk="1">
                        <a:defRPr/>
                      </a:pPr>
                      <a:r>
                        <a:rPr lang="ko-KR" altLang="en-US" sz="1300" b="0">
                          <a:solidFill>
                            <a:schemeClr val="tx1"/>
                          </a:solidFill>
                        </a:rPr>
                        <a:t>여행 커뮤니티와 활동 기록</a:t>
                      </a:r>
                      <a:endParaRPr lang="ko-KR" altLang="en-US" sz="13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491490">
                <a:tc>
                  <a:txBody>
                    <a:bodyPr vert="horz" lIns="91440" tIns="45720" rIns="91440" bIns="45720" anchor="ctr" anchorCtr="0"/>
                    <a:p>
                      <a:pPr algn="ctr" latinLnBrk="1">
                        <a:defRPr/>
                      </a:pPr>
                      <a:r>
                        <a:rPr lang="ko-KR" altLang="en-US" sz="1300" b="1">
                          <a:solidFill>
                            <a:schemeClr val="bg1"/>
                          </a:solidFill>
                        </a:rPr>
                        <a:t>기능 설명</a:t>
                      </a:r>
                      <a:endParaRPr lang="ko-KR" altLang="en-US" sz="1300"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marL="0" marR="0" lvl="0" indent="0" algn="l" defTabSz="914400" rtl="0" eaLnBrk="1" latinLnBrk="1" hangingPunct="1">
                        <a:lnSpc>
                          <a:spcPct val="100000"/>
                        </a:lnSpc>
                        <a:spcBef>
                          <a:spcPts val="0"/>
                        </a:spcBef>
                        <a:spcAft>
                          <a:spcPts val="0"/>
                        </a:spcAft>
                        <a:buClrTx/>
                        <a:buFontTx/>
                        <a:buNone/>
                        <a:defRPr/>
                      </a:pPr>
                      <a:r>
                        <a:rPr lang="ko-KR" altLang="ko-KR" sz="1300" b="0">
                          <a:solidFill>
                            <a:schemeClr val="tx1"/>
                          </a:solidFill>
                        </a:rPr>
                        <a:t>사용자가 여행 경험과 추천 장소를 게시글로 공유하고, 댓글과 좋아요로 소통하며, 작성한 활동 내역을 마이페이지에서 확인할 수 있는 기능입니다.</a:t>
                      </a:r>
                      <a:endParaRPr lang="ko-KR" altLang="ko-KR" sz="13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bl>
          </a:graphicData>
        </a:graphic>
      </p:graphicFrame>
      <p:pic>
        <p:nvPicPr>
          <p:cNvPr id="42" name=""/>
          <p:cNvPicPr>
            <a:picLocks noChangeAspect="1"/>
          </p:cNvPicPr>
          <p:nvPr/>
        </p:nvPicPr>
        <p:blipFill rotWithShape="1">
          <a:blip r:embed="rId2"/>
          <a:srcRect l="19880" r="15100"/>
          <a:stretch>
            <a:fillRect/>
          </a:stretch>
        </p:blipFill>
        <p:spPr>
          <a:xfrm>
            <a:off x="8918488" y="2175386"/>
            <a:ext cx="2858024" cy="2024813"/>
          </a:xfrm>
          <a:prstGeom prst="rect">
            <a:avLst/>
          </a:prstGeom>
        </p:spPr>
      </p:pic>
      <p:pic>
        <p:nvPicPr>
          <p:cNvPr id="43" name=""/>
          <p:cNvPicPr>
            <a:picLocks noChangeAspect="1"/>
          </p:cNvPicPr>
          <p:nvPr/>
        </p:nvPicPr>
        <p:blipFill rotWithShape="1">
          <a:blip r:embed="rId3"/>
          <a:srcRect l="20310" t="62550" r="14840"/>
          <a:stretch>
            <a:fillRect/>
          </a:stretch>
        </p:blipFill>
        <p:spPr>
          <a:xfrm>
            <a:off x="8923976" y="4202227"/>
            <a:ext cx="2856693" cy="937838"/>
          </a:xfrm>
          <a:prstGeom prst="rect">
            <a:avLst/>
          </a:prstGeom>
        </p:spPr>
      </p:pic>
      <p:pic>
        <p:nvPicPr>
          <p:cNvPr id="44" name=""/>
          <p:cNvPicPr>
            <a:picLocks noChangeAspect="1"/>
          </p:cNvPicPr>
          <p:nvPr/>
        </p:nvPicPr>
        <p:blipFill rotWithShape="1">
          <a:blip r:embed="rId4"/>
          <a:srcRect l="14240" r="14420"/>
          <a:stretch>
            <a:fillRect/>
          </a:stretch>
        </p:blipFill>
        <p:spPr>
          <a:xfrm>
            <a:off x="292118" y="2167466"/>
            <a:ext cx="2863093" cy="2971156"/>
          </a:xfrm>
          <a:prstGeom prst="rect">
            <a:avLst/>
          </a:prstGeom>
        </p:spPr>
      </p:pic>
      <p:pic>
        <p:nvPicPr>
          <p:cNvPr id="45" name=""/>
          <p:cNvPicPr>
            <a:picLocks noChangeAspect="1"/>
          </p:cNvPicPr>
          <p:nvPr/>
        </p:nvPicPr>
        <p:blipFill rotWithShape="1">
          <a:blip r:embed="rId5"/>
          <a:srcRect l="9870" r="9510"/>
          <a:stretch>
            <a:fillRect/>
          </a:stretch>
        </p:blipFill>
        <p:spPr>
          <a:xfrm>
            <a:off x="6046305" y="2172824"/>
            <a:ext cx="2860232" cy="2966165"/>
          </a:xfrm>
          <a:prstGeom prst="rect">
            <a:avLst/>
          </a:prstGeom>
        </p:spPr>
      </p:pic>
      <p:pic>
        <p:nvPicPr>
          <p:cNvPr id="46" name=""/>
          <p:cNvPicPr>
            <a:picLocks noChangeAspect="1"/>
          </p:cNvPicPr>
          <p:nvPr/>
        </p:nvPicPr>
        <p:blipFill rotWithShape="1">
          <a:blip r:embed="rId6"/>
          <a:srcRect l="27430" t="50000" r="22400" b="6670"/>
          <a:stretch>
            <a:fillRect/>
          </a:stretch>
        </p:blipFill>
        <p:spPr>
          <a:xfrm>
            <a:off x="3172837" y="2170893"/>
            <a:ext cx="2855660" cy="1183562"/>
          </a:xfrm>
          <a:prstGeom prst="rect">
            <a:avLst/>
          </a:prstGeom>
        </p:spPr>
      </p:pic>
      <p:pic>
        <p:nvPicPr>
          <p:cNvPr id="47" name=""/>
          <p:cNvPicPr>
            <a:picLocks noChangeAspect="1"/>
          </p:cNvPicPr>
          <p:nvPr/>
        </p:nvPicPr>
        <p:blipFill rotWithShape="1">
          <a:blip r:embed="rId7"/>
          <a:srcRect l="27520" t="32190" r="22050" b="7390"/>
          <a:stretch>
            <a:fillRect/>
          </a:stretch>
        </p:blipFill>
        <p:spPr>
          <a:xfrm>
            <a:off x="3174080" y="3346173"/>
            <a:ext cx="2856595" cy="1786106"/>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0.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4567" y="986712"/>
            <a:ext cx="4770658" cy="297258"/>
          </a:xfrm>
          <a:prstGeom prst="rect">
            <a:avLst/>
          </a:prstGeom>
          <a:solidFill>
            <a:srgbClr val="ff6f00"/>
          </a:solidFill>
        </p:spPr>
        <p:txBody>
          <a:bodyPr wrap="square">
            <a:spAutoFit/>
          </a:bodyPr>
          <a:lstStyle/>
          <a:p>
            <a:pPr algn="ctr">
              <a:defRPr/>
            </a:pPr>
            <a:r>
              <a:rPr lang="ko-KR" altLang="en-US" sz="1400" b="1">
                <a:solidFill>
                  <a:schemeClr val="bg1"/>
                </a:solidFill>
              </a:rPr>
              <a:t>서비스 개발에 활용한 한국관광공사 </a:t>
            </a:r>
            <a:r>
              <a:rPr lang="en-US" altLang="ko-KR" sz="1400" b="1">
                <a:solidFill>
                  <a:schemeClr val="bg1"/>
                </a:solidFill>
              </a:rPr>
              <a:t>OpenAPI </a:t>
            </a:r>
            <a:r>
              <a:rPr lang="ko-KR" altLang="en-US" sz="1400" b="1">
                <a:solidFill>
                  <a:schemeClr val="bg1"/>
                </a:solidFill>
              </a:rPr>
              <a:t>리스트</a:t>
            </a:r>
            <a:endParaRPr lang="ko-KR" altLang="en-US" sz="1400" b="1">
              <a:solidFill>
                <a:schemeClr val="bg1"/>
              </a:solidFill>
            </a:endParaRPr>
          </a:p>
        </p:txBody>
      </p:sp>
      <p:graphicFrame>
        <p:nvGraphicFramePr>
          <p:cNvPr id="7" name="표 6"/>
          <p:cNvGraphicFramePr>
            <a:graphicFrameLocks noGrp="1"/>
          </p:cNvGraphicFramePr>
          <p:nvPr/>
        </p:nvGraphicFramePr>
        <p:xfrm>
          <a:off x="174566" y="1417498"/>
          <a:ext cx="11631043" cy="4943256"/>
        </p:xfrm>
        <a:graphic>
          <a:graphicData uri="http://schemas.openxmlformats.org/drawingml/2006/table">
            <a:tbl>
              <a:tblPr firstRow="1" bandRow="1">
                <a:tableStyleId>{5C22544A-7EE6-4342-B048-85BDC9FD1C3A}</a:tableStyleId>
              </a:tblPr>
              <a:tblGrid>
                <a:gridCol w="821150"/>
                <a:gridCol w="1816388"/>
                <a:gridCol w="8993505"/>
              </a:tblGrid>
              <a:tr h="483724">
                <a:tc rowSpan="2">
                  <a:txBody>
                    <a:bodyPr vert="horz" lIns="91440" tIns="45720" rIns="91440" bIns="45720" anchor="ctr" anchorCtr="0"/>
                    <a:p>
                      <a:pPr algn="ctr" latinLnBrk="1">
                        <a:defRPr/>
                      </a:pPr>
                      <a:r>
                        <a:rPr lang="en-US" altLang="ko-KR" sz="3200" b="1">
                          <a:solidFill>
                            <a:schemeClr val="tx1"/>
                          </a:solidFill>
                        </a:rPr>
                        <a:t>1</a:t>
                      </a:r>
                      <a:endParaRPr lang="ko-KR" altLang="en-US" sz="3200" b="1">
                        <a:solidFill>
                          <a:schemeClr val="tx1"/>
                        </a:solidFill>
                      </a:endParaRPr>
                    </a:p>
                  </a:txBody>
                  <a:tcPr marL="91440" marR="91440" anchor="ctr">
                    <a:lnL w="12700" cap="flat" cmpd="sng" algn="ctr">
                      <a:noFill/>
                      <a:prstDash val="solid"/>
                      <a:round/>
                    </a:lnL>
                    <a:lnR w="12700" cap="flat" cmpd="sng" algn="ctr">
                      <a:solidFill>
                        <a:schemeClr val="bg1">
                          <a:lumMod val="85000"/>
                        </a:schemeClr>
                      </a:solidFill>
                      <a:prstDash val="solid"/>
                      <a:round/>
                    </a:lnR>
                    <a:lnT w="12700" cap="flat" cmpd="sng" algn="ctr">
                      <a:noFill/>
                      <a:prstDash val="solid"/>
                      <a:round/>
                    </a:lnT>
                    <a:lnB w="12700" cap="flat" cmpd="sng" algn="ctr">
                      <a:noFill/>
                      <a:prstDash val="solid"/>
                      <a:round/>
                    </a:lnB>
                    <a:noFill/>
                  </a:tcPr>
                </a:tc>
                <a:tc>
                  <a:txBody>
                    <a:bodyPr vert="horz" lIns="91440" tIns="45720" rIns="91440" bIns="45720" anchor="ctr" anchorCtr="0"/>
                    <a:p>
                      <a:pPr algn="ctr" latinLnBrk="1">
                        <a:defRPr/>
                      </a:pPr>
                      <a:r>
                        <a:rPr lang="en-US" altLang="ko-KR" b="1">
                          <a:solidFill>
                            <a:schemeClr val="bg1"/>
                          </a:solidFill>
                        </a:rPr>
                        <a:t>API</a:t>
                      </a:r>
                      <a:r>
                        <a:rPr lang="ko-KR" altLang="en-US" b="1">
                          <a:solidFill>
                            <a:schemeClr val="bg1"/>
                          </a:solidFill>
                        </a:rPr>
                        <a:t>명</a:t>
                      </a:r>
                      <a:endParaRPr lang="ko-KR" altLang="en-US"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marL="0" marR="0" lvl="0" indent="0" algn="just" defTabSz="914400" rtl="0" eaLnBrk="1" latinLnBrk="1" hangingPunct="1">
                        <a:lnSpc>
                          <a:spcPct val="100000"/>
                        </a:lnSpc>
                        <a:spcBef>
                          <a:spcPts val="0"/>
                        </a:spcBef>
                        <a:spcAft>
                          <a:spcPts val="0"/>
                        </a:spcAft>
                        <a:buClrTx/>
                        <a:buFontTx/>
                        <a:buNone/>
                        <a:defRPr/>
                      </a:pPr>
                      <a:r>
                        <a:rPr lang="ko-KR" altLang="en-US" sz="1300">
                          <a:solidFill>
                            <a:schemeClr val="tx1"/>
                          </a:solidFill>
                        </a:rPr>
                        <a:t>여행지 탐색: KorService2 - areaBasedList2, searchKeyword2</a:t>
                      </a:r>
                      <a:endParaRPr lang="ko-KR" altLang="en-US" sz="130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483724">
                <a:tc vMerge="1">
                  <a:txBody>
                    <a:bodyPr/>
                    <a:p>
                      <a:pPr latinLnBrk="1">
                        <a:defRPr/>
                      </a:pPr>
                      <a:endParaRPr lang="ko-KR" altLang="en-US"/>
                    </a:p>
                  </a:txBody>
                  <a:tcPr marL="91440" marR="91440"/>
                </a:tc>
                <a:tc>
                  <a:txBody>
                    <a:bodyPr vert="horz" lIns="91440" tIns="45720" rIns="91440" bIns="45720" anchor="ctr" anchorCtr="0"/>
                    <a:p>
                      <a:pPr algn="ctr" latinLnBrk="1">
                        <a:defRPr/>
                      </a:pPr>
                      <a:r>
                        <a:rPr lang="ko-KR" altLang="en-US" b="1">
                          <a:solidFill>
                            <a:schemeClr val="bg1"/>
                          </a:solidFill>
                        </a:rPr>
                        <a:t>상세설명</a:t>
                      </a:r>
                      <a:endParaRPr lang="ko-KR" altLang="en-US"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marL="0" marR="0" lvl="0" indent="0" algn="just" defTabSz="914400" rtl="0" eaLnBrk="1" latinLnBrk="1" hangingPunct="1">
                        <a:lnSpc>
                          <a:spcPct val="100000"/>
                        </a:lnSpc>
                        <a:spcBef>
                          <a:spcPts val="0"/>
                        </a:spcBef>
                        <a:spcAft>
                          <a:spcPts val="0"/>
                        </a:spcAft>
                        <a:buClrTx/>
                        <a:buFontTx/>
                        <a:buNone/>
                        <a:defRPr/>
                      </a:pPr>
                      <a:r>
                        <a:rPr lang="en-US" altLang="ko-KR" sz="1300" b="0">
                          <a:solidFill>
                            <a:schemeClr val="tx1"/>
                          </a:solidFill>
                        </a:rPr>
                        <a:t>지역·테마 기반 여행지 목록을 조회하고, 키워드 검색을 통해 사용자가 원하는 관광지를 탐색할 수 있도록 활용합니다.</a:t>
                      </a:r>
                      <a:endParaRPr lang="en-US" altLang="ko-KR" sz="13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496976">
                <a:tc rowSpan="2">
                  <a:txBody>
                    <a:bodyPr vert="horz" lIns="91440" tIns="45720" rIns="91440" bIns="45720" anchor="ctr" anchorCtr="0"/>
                    <a:p>
                      <a:pPr algn="ctr" latinLnBrk="1">
                        <a:defRPr/>
                      </a:pPr>
                      <a:r>
                        <a:rPr lang="en-US" altLang="ko-KR" sz="3200" b="1">
                          <a:solidFill>
                            <a:schemeClr val="tx1"/>
                          </a:solidFill>
                        </a:rPr>
                        <a:t>2</a:t>
                      </a:r>
                      <a:endParaRPr lang="ko-KR" altLang="en-US" sz="3200" b="1">
                        <a:solidFill>
                          <a:schemeClr val="tx1"/>
                        </a:solidFill>
                      </a:endParaRPr>
                    </a:p>
                  </a:txBody>
                  <a:tcPr marL="91440" marR="91440" anchor="ctr">
                    <a:lnL w="12700" cap="flat" cmpd="sng" algn="ctr">
                      <a:noFill/>
                      <a:prstDash val="solid"/>
                      <a:round/>
                    </a:lnL>
                    <a:lnR w="12700" cap="flat" cmpd="sng" algn="ctr">
                      <a:solidFill>
                        <a:schemeClr val="bg1">
                          <a:lumMod val="85000"/>
                        </a:schemeClr>
                      </a:solidFill>
                      <a:prstDash val="solid"/>
                      <a:round/>
                    </a:lnR>
                    <a:lnT w="12700" cap="flat" cmpd="sng" algn="ctr">
                      <a:noFill/>
                      <a:prstDash val="solid"/>
                      <a:round/>
                    </a:lnT>
                    <a:lnB w="12700" cap="flat" cmpd="sng" algn="ctr">
                      <a:noFill/>
                      <a:prstDash val="solid"/>
                      <a:round/>
                    </a:lnB>
                    <a:noFill/>
                  </a:tcPr>
                </a:tc>
                <a:tc>
                  <a:txBody>
                    <a:bodyPr vert="horz" lIns="91440" tIns="45720" rIns="91440" bIns="45720" anchor="ctr" anchorCtr="0"/>
                    <a:p>
                      <a:pPr algn="ctr" latinLnBrk="1">
                        <a:defRPr/>
                      </a:pPr>
                      <a:r>
                        <a:rPr lang="en-US" altLang="ko-KR" b="1">
                          <a:solidFill>
                            <a:schemeClr val="bg1"/>
                          </a:solidFill>
                        </a:rPr>
                        <a:t>API</a:t>
                      </a:r>
                      <a:r>
                        <a:rPr lang="ko-KR" altLang="en-US" b="1">
                          <a:solidFill>
                            <a:schemeClr val="bg1"/>
                          </a:solidFill>
                        </a:rPr>
                        <a:t>명</a:t>
                      </a:r>
                      <a:endParaRPr lang="ko-KR" altLang="en-US"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algn="just" latinLnBrk="1">
                        <a:defRPr/>
                      </a:pPr>
                      <a:r>
                        <a:rPr lang="ko-KR" altLang="en-US" sz="1300" b="1">
                          <a:solidFill>
                            <a:schemeClr val="tx1"/>
                          </a:solidFill>
                        </a:rPr>
                        <a:t>상세·이용정보: KorService2 - detailCommon2, detailIntro2, detailInfo2</a:t>
                      </a:r>
                      <a:endParaRPr lang="ko-KR" altLang="en-US" sz="1300" b="1">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496976">
                <a:tc vMerge="1">
                  <a:txBody>
                    <a:bodyPr/>
                    <a:p>
                      <a:pPr latinLnBrk="1">
                        <a:defRPr/>
                      </a:pPr>
                      <a:endParaRPr lang="ko-KR" altLang="en-US"/>
                    </a:p>
                  </a:txBody>
                  <a:tcPr marL="91440" marR="91440"/>
                </a:tc>
                <a:tc>
                  <a:txBody>
                    <a:bodyPr vert="horz" lIns="91440" tIns="45720" rIns="91440" bIns="45720" anchor="ctr" anchorCtr="0"/>
                    <a:p>
                      <a:pPr algn="ctr" latinLnBrk="1">
                        <a:defRPr/>
                      </a:pPr>
                      <a:r>
                        <a:rPr lang="ko-KR" altLang="en-US" b="1">
                          <a:solidFill>
                            <a:schemeClr val="bg1"/>
                          </a:solidFill>
                        </a:rPr>
                        <a:t>상세설명</a:t>
                      </a:r>
                      <a:endParaRPr lang="ko-KR" altLang="en-US"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algn="just" latinLnBrk="1">
                        <a:defRPr/>
                      </a:pPr>
                      <a:r>
                        <a:rPr lang="ko-KR" altLang="en-US" sz="1300" b="0">
                          <a:solidFill>
                            <a:schemeClr val="tx1"/>
                          </a:solidFill>
                        </a:rPr>
                        <a:t>여행지 상세 화면에서 관광지의 기본 정보, 소개 정보, 이용 정보, 주소 등 상세 데이터를 제공하는 데 활용합니다.</a:t>
                      </a:r>
                      <a:endParaRPr lang="ko-KR" altLang="en-US" sz="13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496976">
                <a:tc rowSpan="2">
                  <a:txBody>
                    <a:bodyPr vert="horz" lIns="91440" tIns="45720" rIns="91440" bIns="45720" anchor="ctr" anchorCtr="0"/>
                    <a:p>
                      <a:pPr algn="ctr" latinLnBrk="1">
                        <a:defRPr/>
                      </a:pPr>
                      <a:r>
                        <a:rPr lang="en-US" altLang="ko-KR" sz="3200" b="1">
                          <a:solidFill>
                            <a:schemeClr val="tx1"/>
                          </a:solidFill>
                        </a:rPr>
                        <a:t>3</a:t>
                      </a:r>
                      <a:endParaRPr lang="ko-KR" altLang="en-US" sz="3200" b="1">
                        <a:solidFill>
                          <a:schemeClr val="tx1"/>
                        </a:solidFill>
                      </a:endParaRPr>
                    </a:p>
                  </a:txBody>
                  <a:tcPr marL="91440" marR="91440" anchor="ctr">
                    <a:lnL w="12700" cap="flat" cmpd="sng" algn="ctr">
                      <a:noFill/>
                      <a:prstDash val="solid"/>
                      <a:round/>
                    </a:lnL>
                    <a:lnR w="12700" cap="flat" cmpd="sng" algn="ctr">
                      <a:solidFill>
                        <a:schemeClr val="bg1">
                          <a:lumMod val="85000"/>
                        </a:schemeClr>
                      </a:solidFill>
                      <a:prstDash val="solid"/>
                      <a:round/>
                    </a:lnR>
                    <a:lnT w="12700" cap="flat" cmpd="sng" algn="ctr">
                      <a:noFill/>
                      <a:prstDash val="solid"/>
                      <a:round/>
                    </a:lnT>
                    <a:lnB w="12700" cap="flat" cmpd="sng" algn="ctr">
                      <a:noFill/>
                      <a:prstDash val="solid"/>
                      <a:round/>
                    </a:lnB>
                    <a:noFill/>
                  </a:tcPr>
                </a:tc>
                <a:tc>
                  <a:txBody>
                    <a:bodyPr vert="horz" lIns="91440" tIns="45720" rIns="91440" bIns="45720" anchor="ctr" anchorCtr="0"/>
                    <a:p>
                      <a:pPr algn="ctr" latinLnBrk="1">
                        <a:defRPr/>
                      </a:pPr>
                      <a:r>
                        <a:rPr lang="en-US" altLang="ko-KR" b="1">
                          <a:solidFill>
                            <a:schemeClr val="bg1"/>
                          </a:solidFill>
                        </a:rPr>
                        <a:t>API</a:t>
                      </a:r>
                      <a:r>
                        <a:rPr lang="ko-KR" altLang="en-US" b="1">
                          <a:solidFill>
                            <a:schemeClr val="bg1"/>
                          </a:solidFill>
                        </a:rPr>
                        <a:t>명</a:t>
                      </a:r>
                      <a:endParaRPr lang="ko-KR" altLang="en-US"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algn="just" latinLnBrk="1">
                        <a:defRPr/>
                      </a:pPr>
                      <a:r>
                        <a:rPr lang="ko-KR" altLang="en-US" sz="1300" b="1">
                          <a:solidFill>
                            <a:schemeClr val="tx1"/>
                          </a:solidFill>
                        </a:rPr>
                        <a:t>상세 이미지: KorService2 - detailImage2</a:t>
                      </a:r>
                      <a:endParaRPr lang="ko-KR" altLang="en-US" sz="1300" b="1">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496976">
                <a:tc vMerge="1">
                  <a:txBody>
                    <a:bodyPr/>
                    <a:p>
                      <a:pPr algn="ctr" latinLnBrk="1">
                        <a:defRPr/>
                      </a:pPr>
                      <a:endParaRPr lang="ko-KR" altLang="en-US" sz="3200"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chemeClr val="tx1"/>
                    </a:solidFill>
                  </a:tcPr>
                </a:tc>
                <a:tc>
                  <a:txBody>
                    <a:bodyPr vert="horz" lIns="91440" tIns="45720" rIns="91440" bIns="45720" anchor="ctr" anchorCtr="0"/>
                    <a:p>
                      <a:pPr algn="ctr" latinLnBrk="1">
                        <a:defRPr/>
                      </a:pPr>
                      <a:r>
                        <a:rPr lang="ko-KR" altLang="en-US" b="1">
                          <a:solidFill>
                            <a:schemeClr val="bg1"/>
                          </a:solidFill>
                        </a:rPr>
                        <a:t>상세설명</a:t>
                      </a:r>
                      <a:endParaRPr lang="ko-KR" altLang="en-US"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algn="just" latinLnBrk="1">
                        <a:defRPr/>
                      </a:pPr>
                      <a:r>
                        <a:rPr lang="ko-KR" altLang="en-US" sz="1300" b="0">
                          <a:solidFill>
                            <a:schemeClr val="tx1"/>
                          </a:solidFill>
                        </a:rPr>
                        <a:t>여행지 및 축제 상세 이미지와 추가 관광 정보를 조회해 여행지 상세 화면을 구성합니다.</a:t>
                      </a:r>
                      <a:endParaRPr lang="ko-KR" altLang="en-US" sz="13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496976">
                <a:tc rowSpan="2">
                  <a:txBody>
                    <a:bodyPr vert="horz" lIns="91440" tIns="45720" rIns="91440" bIns="45720" anchor="ctr" anchorCtr="0"/>
                    <a:p>
                      <a:pPr algn="ctr" latinLnBrk="1">
                        <a:defRPr/>
                      </a:pPr>
                      <a:r>
                        <a:rPr lang="en-US" altLang="ko-KR" sz="3200" b="1">
                          <a:solidFill>
                            <a:schemeClr val="tx1"/>
                          </a:solidFill>
                        </a:rPr>
                        <a:t>4</a:t>
                      </a:r>
                      <a:endParaRPr lang="ko-KR" altLang="en-US" sz="3200" b="1">
                        <a:solidFill>
                          <a:schemeClr val="tx1"/>
                        </a:solidFill>
                      </a:endParaRPr>
                    </a:p>
                  </a:txBody>
                  <a:tcPr marL="91440" marR="91440" anchor="ctr">
                    <a:lnL w="12700" cap="flat" cmpd="sng" algn="ctr">
                      <a:noFill/>
                      <a:prstDash val="solid"/>
                      <a:round/>
                    </a:lnL>
                    <a:lnR w="12700" cap="flat" cmpd="sng" algn="ctr">
                      <a:solidFill>
                        <a:schemeClr val="bg1">
                          <a:lumMod val="85000"/>
                        </a:schemeClr>
                      </a:solidFill>
                      <a:prstDash val="solid"/>
                      <a:round/>
                    </a:lnR>
                    <a:lnT w="12700" cap="flat" cmpd="sng" algn="ctr">
                      <a:noFill/>
                      <a:prstDash val="solid"/>
                      <a:round/>
                    </a:lnT>
                    <a:lnB w="12700" cap="flat" cmpd="sng" algn="ctr">
                      <a:noFill/>
                      <a:prstDash val="solid"/>
                      <a:round/>
                    </a:lnB>
                    <a:noFill/>
                  </a:tcPr>
                </a:tc>
                <a:tc>
                  <a:txBody>
                    <a:bodyPr vert="horz" lIns="91440" tIns="45720" rIns="91440" bIns="45720" anchor="ctr" anchorCtr="0"/>
                    <a:p>
                      <a:pPr algn="ctr" latinLnBrk="1">
                        <a:defRPr/>
                      </a:pPr>
                      <a:r>
                        <a:rPr lang="en-US" altLang="ko-KR" b="1">
                          <a:solidFill>
                            <a:schemeClr val="bg1"/>
                          </a:solidFill>
                        </a:rPr>
                        <a:t>API</a:t>
                      </a:r>
                      <a:r>
                        <a:rPr lang="ko-KR" altLang="en-US" b="1">
                          <a:solidFill>
                            <a:schemeClr val="bg1"/>
                          </a:solidFill>
                        </a:rPr>
                        <a:t>명</a:t>
                      </a:r>
                      <a:endParaRPr lang="ko-KR" altLang="en-US"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algn="just" latinLnBrk="1">
                        <a:defRPr/>
                      </a:pPr>
                      <a:r>
                        <a:rPr lang="ko-KR" altLang="en-US" sz="1300" b="1">
                          <a:solidFill>
                            <a:schemeClr val="tx1"/>
                          </a:solidFill>
                        </a:rPr>
                        <a:t>지역·축제 정보: KorService2 - </a:t>
                      </a:r>
                      <a:r>
                        <a:rPr lang="en-US" altLang="ko-KR" sz="1300" b="1">
                          <a:solidFill>
                            <a:schemeClr val="tx1"/>
                          </a:solidFill>
                        </a:rPr>
                        <a:t>l</a:t>
                      </a:r>
                      <a:r>
                        <a:rPr lang="ko-KR" altLang="en-US" sz="1300" b="1">
                          <a:solidFill>
                            <a:schemeClr val="tx1"/>
                          </a:solidFill>
                        </a:rPr>
                        <a:t>DongCode2, searchFestival2</a:t>
                      </a:r>
                      <a:endParaRPr lang="ko-KR" altLang="en-US" sz="1300" b="1">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496976">
                <a:tc vMerge="1">
                  <a:txBody>
                    <a:bodyPr/>
                    <a:p>
                      <a:pPr algn="ctr" latinLnBrk="1">
                        <a:defRPr/>
                      </a:pPr>
                      <a:endParaRPr lang="ko-KR" altLang="en-US" sz="3200"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chemeClr val="tx1"/>
                    </a:solidFill>
                  </a:tcPr>
                </a:tc>
                <a:tc>
                  <a:txBody>
                    <a:bodyPr vert="horz" lIns="91440" tIns="45720" rIns="91440" bIns="45720" anchor="ctr" anchorCtr="0"/>
                    <a:p>
                      <a:pPr algn="ctr" latinLnBrk="1">
                        <a:defRPr/>
                      </a:pPr>
                      <a:r>
                        <a:rPr lang="ko-KR" altLang="en-US" b="1">
                          <a:solidFill>
                            <a:schemeClr val="bg1"/>
                          </a:solidFill>
                        </a:rPr>
                        <a:t>상세설명</a:t>
                      </a:r>
                      <a:endParaRPr lang="ko-KR" altLang="en-US"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algn="just" latinLnBrk="1">
                        <a:defRPr/>
                      </a:pPr>
                      <a:r>
                        <a:rPr lang="ko-KR" altLang="en-US" sz="1300" b="0">
                          <a:solidFill>
                            <a:schemeClr val="tx1"/>
                          </a:solidFill>
                        </a:rPr>
                        <a:t>지역 코드와 축제·행사 정보를 조회해 필터와 행사 목록을 구성합니다.</a:t>
                      </a:r>
                      <a:endParaRPr lang="ko-KR" altLang="en-US" sz="13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496976">
                <a:tc rowSpan="2">
                  <a:txBody>
                    <a:bodyPr vert="horz" lIns="91440" tIns="45720" rIns="91440" bIns="45720" anchor="ctr" anchorCtr="0"/>
                    <a:p>
                      <a:pPr algn="ctr" latinLnBrk="1">
                        <a:defRPr/>
                      </a:pPr>
                      <a:r>
                        <a:rPr lang="en-US" altLang="ko-KR" sz="3200" b="1">
                          <a:solidFill>
                            <a:schemeClr val="tx1"/>
                          </a:solidFill>
                        </a:rPr>
                        <a:t>5</a:t>
                      </a:r>
                      <a:endParaRPr lang="ko-KR" altLang="en-US" sz="3200" b="1">
                        <a:solidFill>
                          <a:schemeClr val="tx1"/>
                        </a:solidFill>
                      </a:endParaRPr>
                    </a:p>
                  </a:txBody>
                  <a:tcPr marL="91440" marR="91440" anchor="ctr">
                    <a:lnL w="12700" cap="flat" cmpd="sng" algn="ctr">
                      <a:noFill/>
                      <a:prstDash val="solid"/>
                      <a:round/>
                    </a:lnL>
                    <a:lnR w="12700" cap="flat" cmpd="sng" algn="ctr">
                      <a:solidFill>
                        <a:schemeClr val="bg1">
                          <a:lumMod val="85000"/>
                        </a:schemeClr>
                      </a:solidFill>
                      <a:prstDash val="solid"/>
                      <a:round/>
                    </a:lnR>
                    <a:lnT w="12700" cap="flat" cmpd="sng" algn="ctr">
                      <a:noFill/>
                      <a:prstDash val="solid"/>
                      <a:round/>
                    </a:lnT>
                    <a:lnB w="12700" cap="flat" cmpd="sng" algn="ctr">
                      <a:noFill/>
                      <a:prstDash val="solid"/>
                      <a:round/>
                    </a:lnB>
                    <a:noFill/>
                  </a:tcPr>
                </a:tc>
                <a:tc>
                  <a:txBody>
                    <a:bodyPr vert="horz" lIns="91440" tIns="45720" rIns="91440" bIns="45720" anchor="ctr" anchorCtr="0"/>
                    <a:p>
                      <a:pPr algn="ctr" latinLnBrk="1">
                        <a:defRPr/>
                      </a:pPr>
                      <a:r>
                        <a:rPr lang="en-US" altLang="ko-KR" b="1">
                          <a:solidFill>
                            <a:schemeClr val="bg1"/>
                          </a:solidFill>
                        </a:rPr>
                        <a:t>API</a:t>
                      </a:r>
                      <a:r>
                        <a:rPr lang="ko-KR" altLang="en-US" b="1">
                          <a:solidFill>
                            <a:schemeClr val="bg1"/>
                          </a:solidFill>
                        </a:rPr>
                        <a:t>명</a:t>
                      </a:r>
                      <a:endParaRPr lang="ko-KR" altLang="en-US"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algn="just" latinLnBrk="1">
                        <a:defRPr/>
                      </a:pPr>
                      <a:r>
                        <a:rPr lang="ko-KR" altLang="en-US" sz="1300" b="1">
                          <a:solidFill>
                            <a:schemeClr val="tx1"/>
                          </a:solidFill>
                        </a:rPr>
                        <a:t>관광 사진: PhotoGalleryService1 - galleryList1</a:t>
                      </a:r>
                      <a:endParaRPr lang="ko-KR" altLang="en-US" sz="1300" b="1">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496976">
                <a:tc vMerge="1">
                  <a:txBody>
                    <a:bodyPr/>
                    <a:p>
                      <a:pPr algn="ctr" latinLnBrk="1">
                        <a:defRPr/>
                      </a:pPr>
                      <a:endParaRPr lang="ko-KR" altLang="en-US" sz="3200" b="1">
                        <a:solidFill>
                          <a:schemeClr val="tx1"/>
                        </a:solidFill>
                      </a:endParaRPr>
                    </a:p>
                  </a:txBody>
                  <a:tcPr marL="91440" marR="91440" anchor="ctr">
                    <a:lnL w="12700" cap="flat" cmpd="sng" algn="ctr">
                      <a:noFill/>
                      <a:prstDash val="solid"/>
                      <a:round/>
                    </a:lnL>
                    <a:lnR w="12700" cap="flat" cmpd="sng" algn="ctr">
                      <a:solidFill>
                        <a:schemeClr val="bg1">
                          <a:lumMod val="85000"/>
                        </a:schemeClr>
                      </a:solidFill>
                      <a:prstDash val="solid"/>
                      <a:round/>
                    </a:lnR>
                    <a:lnT w="12700" cap="flat" cmpd="sng" algn="ctr">
                      <a:noFill/>
                      <a:prstDash val="solid"/>
                      <a:round/>
                    </a:lnT>
                    <a:lnB w="12700" cap="flat" cmpd="sng" algn="ctr">
                      <a:noFill/>
                      <a:prstDash val="solid"/>
                      <a:round/>
                    </a:lnB>
                    <a:noFill/>
                  </a:tcPr>
                </a:tc>
                <a:tc>
                  <a:txBody>
                    <a:bodyPr vert="horz" lIns="91440" tIns="45720" rIns="91440" bIns="45720" anchor="ctr" anchorCtr="0"/>
                    <a:p>
                      <a:pPr algn="ctr" latinLnBrk="1">
                        <a:defRPr/>
                      </a:pPr>
                      <a:r>
                        <a:rPr lang="ko-KR" altLang="en-US" b="1">
                          <a:solidFill>
                            <a:schemeClr val="bg1"/>
                          </a:solidFill>
                        </a:rPr>
                        <a:t>상세설명</a:t>
                      </a:r>
                      <a:endParaRPr lang="ko-KR" altLang="en-US"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algn="just" latinLnBrk="1">
                        <a:defRPr/>
                      </a:pPr>
                      <a:r>
                        <a:rPr lang="ko-KR" altLang="en-US" sz="1300" b="0">
                          <a:solidFill>
                            <a:schemeClr val="tx1"/>
                          </a:solidFill>
                        </a:rPr>
                        <a:t>관광 사진 데이터를 홈 화면과 추천 영역의 시각 자료로 활용합니다.</a:t>
                      </a:r>
                      <a:endParaRPr lang="ko-KR" altLang="en-US" sz="13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bl>
          </a:graphicData>
        </a:graphic>
      </p:graphicFrame>
      <p:sp>
        <p:nvSpPr>
          <p:cNvPr id="11" name=""/>
          <p:cNvSpPr txBox="1"/>
          <p:nvPr/>
        </p:nvSpPr>
        <p:spPr>
          <a:xfrm>
            <a:off x="-75455" y="6490917"/>
            <a:ext cx="12342909" cy="241353"/>
          </a:xfrm>
          <a:prstGeom prst="rect">
            <a:avLst/>
          </a:prstGeom>
        </p:spPr>
        <p:txBody>
          <a:bodyPr wrap="square">
            <a:spAutoFit/>
          </a:bodyPr>
          <a:p>
            <a:pPr algn="ctr">
              <a:defRPr/>
            </a:pPr>
            <a:r>
              <a:rPr lang="en-US" altLang="en-US" sz="1000" b="1"/>
              <a:t>활용 Endpoint: KorService2(areaBasedList2, searchKeyword2, detailCommon2, detailIntro2, detailInfo2, detailImage2, ldongCode2, searchFestival2), PhotoGalleryService1(galleryList1)</a:t>
            </a:r>
            <a:endParaRPr lang="en-US" altLang="en-US" sz="1000" b="1"/>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4566" y="1101012"/>
            <a:ext cx="3893580" cy="297258"/>
          </a:xfrm>
          <a:prstGeom prst="rect">
            <a:avLst/>
          </a:prstGeom>
          <a:solidFill>
            <a:srgbClr val="ff6f00"/>
          </a:solidFill>
        </p:spPr>
        <p:txBody>
          <a:bodyPr wrap="square">
            <a:spAutoFit/>
          </a:bodyPr>
          <a:lstStyle/>
          <a:p>
            <a:pPr algn="ctr">
              <a:defRPr/>
            </a:pPr>
            <a:r>
              <a:rPr lang="ko-KR" altLang="en-US" sz="1400" b="1">
                <a:solidFill>
                  <a:schemeClr val="bg1"/>
                </a:solidFill>
              </a:rPr>
              <a:t>서비스 개발에 활용한 기타 </a:t>
            </a:r>
            <a:r>
              <a:rPr lang="en-US" altLang="ko-KR" sz="1400" b="1">
                <a:solidFill>
                  <a:schemeClr val="bg1"/>
                </a:solidFill>
              </a:rPr>
              <a:t>API, </a:t>
            </a:r>
            <a:r>
              <a:rPr lang="ko-KR" altLang="en-US" sz="1400" b="1">
                <a:solidFill>
                  <a:schemeClr val="bg1"/>
                </a:solidFill>
              </a:rPr>
              <a:t>파일데이터</a:t>
            </a:r>
            <a:endParaRPr lang="ko-KR" altLang="en-US" sz="1400" b="1">
              <a:solidFill>
                <a:schemeClr val="bg1"/>
              </a:solidFill>
            </a:endParaRPr>
          </a:p>
        </p:txBody>
      </p:sp>
      <p:graphicFrame>
        <p:nvGraphicFramePr>
          <p:cNvPr id="7" name="표 6"/>
          <p:cNvGraphicFramePr>
            <a:graphicFrameLocks noGrp="1"/>
          </p:cNvGraphicFramePr>
          <p:nvPr/>
        </p:nvGraphicFramePr>
        <p:xfrm>
          <a:off x="174566" y="1541323"/>
          <a:ext cx="11789965" cy="5094372"/>
        </p:xfrm>
        <a:graphic>
          <a:graphicData uri="http://schemas.openxmlformats.org/drawingml/2006/table">
            <a:tbl>
              <a:tblPr firstRow="1" bandRow="1">
                <a:tableStyleId>{5C22544A-7EE6-4342-B048-85BDC9FD1C3A}</a:tableStyleId>
              </a:tblPr>
              <a:tblGrid>
                <a:gridCol w="832077"/>
                <a:gridCol w="1840559"/>
                <a:gridCol w="9117329"/>
              </a:tblGrid>
              <a:tr h="400876">
                <a:tc rowSpan="2">
                  <a:txBody>
                    <a:bodyPr vert="horz" lIns="91440" tIns="45720" rIns="91440" bIns="45720" anchor="ctr" anchorCtr="0"/>
                    <a:p>
                      <a:pPr algn="ctr" latinLnBrk="1">
                        <a:defRPr/>
                      </a:pPr>
                      <a:r>
                        <a:rPr lang="en-US" altLang="ko-KR" sz="3200" b="1">
                          <a:solidFill>
                            <a:schemeClr val="tx1"/>
                          </a:solidFill>
                        </a:rPr>
                        <a:t>1</a:t>
                      </a:r>
                      <a:endParaRPr lang="ko-KR" altLang="en-US" sz="3200" b="1">
                        <a:solidFill>
                          <a:schemeClr val="tx1"/>
                        </a:solidFill>
                      </a:endParaRPr>
                    </a:p>
                  </a:txBody>
                  <a:tcPr marL="91440" marR="91440" anchor="ctr">
                    <a:lnL w="12700" cap="flat" cmpd="sng" algn="ctr">
                      <a:noFill/>
                      <a:prstDash val="solid"/>
                      <a:round/>
                    </a:lnL>
                    <a:lnR w="12700" cap="flat" cmpd="sng" algn="ctr">
                      <a:solidFill>
                        <a:schemeClr val="bg1">
                          <a:lumMod val="85000"/>
                        </a:schemeClr>
                      </a:solidFill>
                      <a:prstDash val="solid"/>
                      <a:round/>
                    </a:lnR>
                    <a:lnT w="12700" cap="flat" cmpd="sng" algn="ctr">
                      <a:noFill/>
                      <a:prstDash val="solid"/>
                      <a:round/>
                    </a:lnT>
                    <a:lnB w="12700" cap="flat" cmpd="sng" algn="ctr">
                      <a:noFill/>
                      <a:prstDash val="solid"/>
                      <a:round/>
                    </a:lnB>
                    <a:noFill/>
                  </a:tcPr>
                </a:tc>
                <a:tc>
                  <a:txBody>
                    <a:bodyPr vert="horz" lIns="91440" tIns="45720" rIns="91440" bIns="45720" anchor="ctr" anchorCtr="0"/>
                    <a:p>
                      <a:pPr algn="ctr" latinLnBrk="1">
                        <a:defRPr/>
                      </a:pPr>
                      <a:r>
                        <a:rPr lang="ko-KR" altLang="en-US" b="1">
                          <a:solidFill>
                            <a:schemeClr val="bg1"/>
                          </a:solidFill>
                        </a:rPr>
                        <a:t>데이터명</a:t>
                      </a:r>
                      <a:endParaRPr lang="ko-KR" altLang="en-US"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marL="0" marR="0" lvl="0" indent="0" algn="just" defTabSz="914400" rtl="0" eaLnBrk="1" latinLnBrk="1" hangingPunct="1">
                        <a:lnSpc>
                          <a:spcPct val="100000"/>
                        </a:lnSpc>
                        <a:spcBef>
                          <a:spcPts val="0"/>
                        </a:spcBef>
                        <a:spcAft>
                          <a:spcPts val="0"/>
                        </a:spcAft>
                        <a:buClrTx/>
                        <a:buFontTx/>
                        <a:buNone/>
                        <a:defRPr/>
                      </a:pPr>
                      <a:r>
                        <a:rPr lang="ko-KR" altLang="en-US" sz="1300">
                          <a:solidFill>
                            <a:schemeClr val="tx1"/>
                          </a:solidFill>
                        </a:rPr>
                        <a:t>Open-Meteo</a:t>
                      </a:r>
                      <a:endParaRPr lang="ko-KR" altLang="en-US" sz="130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531298">
                <a:tc vMerge="1">
                  <a:txBody>
                    <a:bodyPr/>
                    <a:p>
                      <a:pPr latinLnBrk="1">
                        <a:defRPr/>
                      </a:pPr>
                      <a:endParaRPr lang="ko-KR" altLang="en-US"/>
                    </a:p>
                  </a:txBody>
                  <a:tcPr marL="91440" marR="91440"/>
                </a:tc>
                <a:tc>
                  <a:txBody>
                    <a:bodyPr vert="horz" lIns="91440" tIns="45720" rIns="91440" bIns="45720" anchor="ctr" anchorCtr="0"/>
                    <a:p>
                      <a:pPr algn="ctr" latinLnBrk="1">
                        <a:defRPr/>
                      </a:pPr>
                      <a:r>
                        <a:rPr lang="ko-KR" altLang="en-US" b="1">
                          <a:solidFill>
                            <a:schemeClr val="bg1"/>
                          </a:solidFill>
                        </a:rPr>
                        <a:t>상세설명</a:t>
                      </a:r>
                      <a:endParaRPr lang="ko-KR" altLang="en-US"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marL="0" marR="0" lvl="0" indent="0" algn="just" defTabSz="914400" rtl="0" eaLnBrk="1" latinLnBrk="1" hangingPunct="1">
                        <a:lnSpc>
                          <a:spcPct val="100000"/>
                        </a:lnSpc>
                        <a:spcBef>
                          <a:spcPts val="0"/>
                        </a:spcBef>
                        <a:spcAft>
                          <a:spcPts val="0"/>
                        </a:spcAft>
                        <a:buClrTx/>
                        <a:buFontTx/>
                        <a:buNone/>
                        <a:defRPr/>
                      </a:pPr>
                      <a:r>
                        <a:rPr lang="ko-KR" altLang="en-US" sz="1300" b="0">
                          <a:solidFill>
                            <a:schemeClr val="tx1"/>
                          </a:solidFill>
                        </a:rPr>
                        <a:t>사용자의 현재 위치 또는 선택 지역을 기준으로 날씨 정보를 조회하여 홈 화면 추천과 여행 맥락 정보를 제공하는 데 활용합니다.</a:t>
                      </a:r>
                      <a:endParaRPr lang="ko-KR" altLang="en-US" sz="13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411859">
                <a:tc rowSpan="2">
                  <a:txBody>
                    <a:bodyPr vert="horz" lIns="91440" tIns="45720" rIns="91440" bIns="45720" anchor="ctr" anchorCtr="0"/>
                    <a:p>
                      <a:pPr algn="ctr" latinLnBrk="1">
                        <a:defRPr/>
                      </a:pPr>
                      <a:r>
                        <a:rPr lang="en-US" altLang="ko-KR" sz="3200" b="1">
                          <a:solidFill>
                            <a:schemeClr val="tx1"/>
                          </a:solidFill>
                        </a:rPr>
                        <a:t>2</a:t>
                      </a:r>
                      <a:endParaRPr lang="ko-KR" altLang="en-US" sz="3200" b="1">
                        <a:solidFill>
                          <a:schemeClr val="tx1"/>
                        </a:solidFill>
                      </a:endParaRPr>
                    </a:p>
                  </a:txBody>
                  <a:tcPr marL="91440" marR="91440" anchor="ctr">
                    <a:lnL w="12700" cap="flat" cmpd="sng" algn="ctr">
                      <a:noFill/>
                      <a:prstDash val="solid"/>
                      <a:round/>
                    </a:lnL>
                    <a:lnR w="12700" cap="flat" cmpd="sng" algn="ctr">
                      <a:solidFill>
                        <a:schemeClr val="bg1">
                          <a:lumMod val="85000"/>
                        </a:schemeClr>
                      </a:solidFill>
                      <a:prstDash val="solid"/>
                      <a:round/>
                    </a:lnR>
                    <a:lnT w="12700" cap="flat" cmpd="sng" algn="ctr">
                      <a:noFill/>
                      <a:prstDash val="solid"/>
                      <a:round/>
                    </a:lnT>
                    <a:lnB w="12700" cap="flat" cmpd="sng" algn="ctr">
                      <a:noFill/>
                      <a:prstDash val="solid"/>
                      <a:round/>
                    </a:lnB>
                    <a:noFill/>
                  </a:tcPr>
                </a:tc>
                <a:tc>
                  <a:txBody>
                    <a:bodyPr vert="horz" lIns="91440" tIns="45720" rIns="91440" bIns="45720" anchor="ctr" anchorCtr="0"/>
                    <a:p>
                      <a:pPr algn="ctr" latinLnBrk="1">
                        <a:defRPr/>
                      </a:pPr>
                      <a:r>
                        <a:rPr lang="ko-KR" altLang="en-US" b="1">
                          <a:solidFill>
                            <a:schemeClr val="bg1"/>
                          </a:solidFill>
                        </a:rPr>
                        <a:t>데이터명</a:t>
                      </a:r>
                      <a:endParaRPr lang="ko-KR" altLang="en-US"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algn="just" latinLnBrk="1">
                        <a:defRPr/>
                      </a:pPr>
                      <a:r>
                        <a:rPr lang="ko-KR" altLang="en-US" sz="1300" b="1">
                          <a:solidFill>
                            <a:schemeClr val="tx1"/>
                          </a:solidFill>
                        </a:rPr>
                        <a:t>Nominatim</a:t>
                      </a:r>
                      <a:endParaRPr lang="ko-KR" altLang="en-US" sz="1300" b="1">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531298">
                <a:tc vMerge="1">
                  <a:txBody>
                    <a:bodyPr/>
                    <a:p>
                      <a:pPr latinLnBrk="1">
                        <a:defRPr/>
                      </a:pPr>
                      <a:endParaRPr lang="ko-KR" altLang="en-US"/>
                    </a:p>
                  </a:txBody>
                  <a:tcPr marL="91440" marR="91440"/>
                </a:tc>
                <a:tc>
                  <a:txBody>
                    <a:bodyPr vert="horz" lIns="91440" tIns="45720" rIns="91440" bIns="45720" anchor="ctr" anchorCtr="0"/>
                    <a:p>
                      <a:pPr algn="ctr" latinLnBrk="1">
                        <a:defRPr/>
                      </a:pPr>
                      <a:r>
                        <a:rPr lang="ko-KR" altLang="en-US" b="1">
                          <a:solidFill>
                            <a:schemeClr val="bg1"/>
                          </a:solidFill>
                        </a:rPr>
                        <a:t>상세설명</a:t>
                      </a:r>
                      <a:endParaRPr lang="ko-KR" altLang="en-US"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algn="just" latinLnBrk="1">
                        <a:defRPr/>
                      </a:pPr>
                      <a:r>
                        <a:rPr lang="ko-KR" altLang="en-US" sz="1300" b="0">
                          <a:solidFill>
                            <a:schemeClr val="tx1"/>
                          </a:solidFill>
                        </a:rPr>
                        <a:t>좌표 기반 위치명을 조회하여 현재 위치 또는 추천 지역 정보를 사용자에게 이해하기 쉬운 지역명으로 표시하는 데 활용합니다.</a:t>
                      </a:r>
                      <a:endParaRPr lang="ko-KR" altLang="en-US" sz="13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411859">
                <a:tc rowSpan="2">
                  <a:txBody>
                    <a:bodyPr vert="horz" lIns="91440" tIns="45720" rIns="91440" bIns="45720" anchor="ctr" anchorCtr="0"/>
                    <a:p>
                      <a:pPr algn="ctr" latinLnBrk="1">
                        <a:defRPr/>
                      </a:pPr>
                      <a:r>
                        <a:rPr lang="en-US" altLang="ko-KR" sz="3200" b="1">
                          <a:solidFill>
                            <a:schemeClr val="tx1"/>
                          </a:solidFill>
                        </a:rPr>
                        <a:t>3</a:t>
                      </a:r>
                      <a:endParaRPr lang="ko-KR" altLang="en-US" sz="3200" b="1">
                        <a:solidFill>
                          <a:schemeClr val="tx1"/>
                        </a:solidFill>
                      </a:endParaRPr>
                    </a:p>
                  </a:txBody>
                  <a:tcPr marL="91440" marR="91440" anchor="ctr">
                    <a:lnL w="12700" cap="flat" cmpd="sng" algn="ctr">
                      <a:noFill/>
                      <a:prstDash val="solid"/>
                      <a:round/>
                    </a:lnL>
                    <a:lnR w="12700" cap="flat" cmpd="sng" algn="ctr">
                      <a:solidFill>
                        <a:schemeClr val="bg1">
                          <a:lumMod val="85000"/>
                        </a:schemeClr>
                      </a:solidFill>
                      <a:prstDash val="solid"/>
                      <a:round/>
                    </a:lnR>
                    <a:lnT w="12700" cap="flat" cmpd="sng" algn="ctr">
                      <a:noFill/>
                      <a:prstDash val="solid"/>
                      <a:round/>
                    </a:lnT>
                    <a:lnB w="12700" cap="flat" cmpd="sng" algn="ctr">
                      <a:noFill/>
                      <a:prstDash val="solid"/>
                      <a:round/>
                    </a:lnB>
                    <a:noFill/>
                  </a:tcPr>
                </a:tc>
                <a:tc>
                  <a:txBody>
                    <a:bodyPr vert="horz" lIns="91440" tIns="45720" rIns="91440" bIns="45720" anchor="ctr" anchorCtr="0"/>
                    <a:p>
                      <a:pPr algn="ctr" latinLnBrk="1">
                        <a:defRPr/>
                      </a:pPr>
                      <a:r>
                        <a:rPr lang="ko-KR" altLang="en-US" b="1">
                          <a:solidFill>
                            <a:schemeClr val="bg1"/>
                          </a:solidFill>
                        </a:rPr>
                        <a:t>데이터명</a:t>
                      </a:r>
                      <a:endParaRPr lang="ko-KR" altLang="en-US"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algn="just" latinLnBrk="1">
                        <a:defRPr/>
                      </a:pPr>
                      <a:r>
                        <a:rPr lang="ko-KR" altLang="en-US" sz="1300" b="1">
                          <a:solidFill>
                            <a:schemeClr val="tx1"/>
                          </a:solidFill>
                        </a:rPr>
                        <a:t>Kakao Maps SDK</a:t>
                      </a:r>
                      <a:endParaRPr lang="ko-KR" altLang="en-US" sz="1300" b="1">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531298">
                <a:tc vMerge="1">
                  <a:txBody>
                    <a:bodyPr/>
                    <a:p>
                      <a:pPr algn="ctr" latinLnBrk="1">
                        <a:defRPr/>
                      </a:pPr>
                      <a:endParaRPr lang="ko-KR" altLang="en-US" sz="3200"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chemeClr val="tx1"/>
                    </a:solidFill>
                  </a:tcPr>
                </a:tc>
                <a:tc>
                  <a:txBody>
                    <a:bodyPr vert="horz" lIns="91440" tIns="45720" rIns="91440" bIns="45720" anchor="ctr" anchorCtr="0"/>
                    <a:p>
                      <a:pPr algn="ctr" latinLnBrk="1">
                        <a:defRPr/>
                      </a:pPr>
                      <a:r>
                        <a:rPr lang="ko-KR" altLang="en-US" b="1">
                          <a:solidFill>
                            <a:schemeClr val="bg1"/>
                          </a:solidFill>
                        </a:rPr>
                        <a:t>상세설명</a:t>
                      </a:r>
                      <a:endParaRPr lang="ko-KR" altLang="en-US"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algn="just" latinLnBrk="1">
                        <a:defRPr/>
                      </a:pPr>
                      <a:r>
                        <a:rPr lang="ko-KR" altLang="en-US" sz="1300" b="0">
                          <a:solidFill>
                            <a:schemeClr val="tx1"/>
                          </a:solidFill>
                        </a:rPr>
                        <a:t>여행지 상세 화면에서 선택한 장소의 위치를 지도에 표시하고, 사용자가 주변 위치 정보를 직관적으로 확인할 수 있도록 활용합니다.</a:t>
                      </a:r>
                      <a:endParaRPr lang="ko-KR" altLang="en-US" sz="13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531298">
                <a:tc rowSpan="2">
                  <a:txBody>
                    <a:bodyPr vert="horz" lIns="91440" tIns="45720" rIns="91440" bIns="45720" anchor="ctr" anchorCtr="0"/>
                    <a:p>
                      <a:pPr algn="ctr" latinLnBrk="1">
                        <a:defRPr/>
                      </a:pPr>
                      <a:r>
                        <a:rPr lang="en-US" altLang="ko-KR" sz="3200" b="1">
                          <a:solidFill>
                            <a:schemeClr val="tx1"/>
                          </a:solidFill>
                        </a:rPr>
                        <a:t>4</a:t>
                      </a:r>
                      <a:endParaRPr lang="en-US" altLang="ko-KR" sz="3200" b="1">
                        <a:solidFill>
                          <a:schemeClr val="tx1"/>
                        </a:solidFill>
                      </a:endParaRPr>
                    </a:p>
                  </a:txBody>
                  <a:tcPr marL="91440" marR="91440" anchor="ctr">
                    <a:lnL w="12700" cap="flat" cmpd="sng" algn="ctr">
                      <a:noFill/>
                      <a:prstDash val="solid"/>
                      <a:round/>
                    </a:lnL>
                    <a:lnR w="12700" cap="flat" cmpd="sng" algn="ctr">
                      <a:solidFill>
                        <a:schemeClr val="bg1">
                          <a:lumMod val="85000"/>
                        </a:schemeClr>
                      </a:solidFill>
                      <a:prstDash val="solid"/>
                      <a:round/>
                    </a:lnR>
                    <a:lnT w="12700" cap="flat" cmpd="sng" algn="ctr">
                      <a:noFill/>
                      <a:prstDash val="solid"/>
                      <a:round/>
                    </a:lnT>
                    <a:lnB w="12700" cap="flat" cmpd="sng" algn="ctr">
                      <a:noFill/>
                      <a:prstDash val="solid"/>
                      <a:round/>
                    </a:lnB>
                    <a:noFill/>
                  </a:tcPr>
                </a:tc>
                <a:tc>
                  <a:txBody>
                    <a:bodyPr vert="horz" lIns="91440" tIns="45720" rIns="91440" bIns="45720" anchor="ctr" anchorCtr="0"/>
                    <a:p>
                      <a:pPr algn="ctr" latinLnBrk="1">
                        <a:defRPr/>
                      </a:pPr>
                      <a:r>
                        <a:rPr lang="ko-KR" altLang="en-US" b="1">
                          <a:solidFill>
                            <a:schemeClr val="bg1"/>
                          </a:solidFill>
                        </a:rPr>
                        <a:t>데이터명</a:t>
                      </a:r>
                      <a:endParaRPr lang="ko-KR" altLang="en-US"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algn="just" latinLnBrk="1">
                        <a:defRPr/>
                      </a:pPr>
                      <a:r>
                        <a:rPr lang="ko-KR" altLang="en-US" sz="1300" b="1">
                          <a:solidFill>
                            <a:schemeClr val="tx1"/>
                          </a:solidFill>
                        </a:rPr>
                        <a:t>Gemini API (Firebase Functions 프록시)</a:t>
                      </a:r>
                      <a:endParaRPr lang="ko-KR" altLang="en-US" sz="1300" b="1">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531298">
                <a:tc vMerge="1">
                  <a:txBody>
                    <a:bodyPr vert="horz" lIns="91440" tIns="45720" rIns="91440" bIns="45720" anchor="ctr" anchorCtr="0"/>
                    <a:p>
                      <a:pPr>
                        <a:defRPr/>
                      </a:pPr>
                      <a:endParaRPr lang="ko-KR" altLang="en-US"/>
                    </a:p>
                  </a:txBody>
                  <a:tcPr marL="91440" marR="91440" anchor="ctr">
                    <a:lnL w="12700" cap="flat" cmpd="sng" algn="ctr">
                      <a:noFill/>
                      <a:prstDash val="solid"/>
                      <a:round/>
                    </a:lnL>
                    <a:lnR w="12700" cap="flat" cmpd="sng" algn="ctr">
                      <a:solidFill>
                        <a:schemeClr val="bg1">
                          <a:lumMod val="85000"/>
                        </a:schemeClr>
                      </a:solidFill>
                      <a:prstDash val="solid"/>
                      <a:round/>
                    </a:lnR>
                    <a:lnT w="12700" cap="flat" cmpd="sng" algn="ctr">
                      <a:noFill/>
                      <a:prstDash val="solid"/>
                      <a:round/>
                    </a:lnT>
                    <a:lnB w="12700" cap="flat" cmpd="sng" algn="ctr">
                      <a:noFill/>
                      <a:prstDash val="solid"/>
                      <a:round/>
                    </a:lnB>
                    <a:noFill/>
                  </a:tcPr>
                </a:tc>
                <a:tc>
                  <a:txBody>
                    <a:bodyPr vert="horz" lIns="91440" tIns="45720" rIns="91440" bIns="45720" anchor="ctr" anchorCtr="0"/>
                    <a:p>
                      <a:pPr algn="ctr" latinLnBrk="1">
                        <a:defRPr/>
                      </a:pPr>
                      <a:r>
                        <a:rPr lang="ko-KR" altLang="en-US" b="1">
                          <a:solidFill>
                            <a:schemeClr val="bg1"/>
                          </a:solidFill>
                        </a:rPr>
                        <a:t>상세설명</a:t>
                      </a:r>
                      <a:endParaRPr lang="ko-KR" altLang="en-US"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algn="just" latinLnBrk="1">
                        <a:defRPr/>
                      </a:pPr>
                      <a:r>
                        <a:rPr lang="ko-KR" altLang="en-US" sz="1300" b="0">
                          <a:solidFill>
                            <a:schemeClr val="tx1"/>
                          </a:solidFill>
                        </a:rPr>
                        <a:t>사용자가 입력한 여행 지역, 일정, 동행자, 선호 조건을 바탕으로 AI 여행 일정 초안을 생성하는 데 활용합니다. 생성 결과는 일정 구조로 검증한 뒤 저장 흐름과 연결합니다. 보안을 위해 </a:t>
                      </a:r>
                      <a:r>
                        <a:rPr lang="en-US" altLang="ko-KR" sz="1300" b="0">
                          <a:solidFill>
                            <a:schemeClr val="tx1"/>
                          </a:solidFill>
                        </a:rPr>
                        <a:t>API </a:t>
                      </a:r>
                      <a:r>
                        <a:rPr lang="ko-KR" altLang="en-US" sz="1300" b="0">
                          <a:solidFill>
                            <a:schemeClr val="tx1"/>
                          </a:solidFill>
                        </a:rPr>
                        <a:t>키를 프런트엔드에 노출하지 않고 서버 경유 구조로 구현했습니다</a:t>
                      </a:r>
                      <a:r>
                        <a:rPr lang="en-US" altLang="ko-KR" sz="1300" b="0">
                          <a:solidFill>
                            <a:schemeClr val="tx1"/>
                          </a:solidFill>
                        </a:rPr>
                        <a:t>.</a:t>
                      </a:r>
                      <a:endParaRPr lang="en-US" altLang="ko-KR" sz="13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531298">
                <a:tc rowSpan="2">
                  <a:txBody>
                    <a:bodyPr vert="horz" lIns="91440" tIns="45720" rIns="91440" bIns="45720" anchor="ctr" anchorCtr="0"/>
                    <a:p>
                      <a:pPr algn="ctr" latinLnBrk="1">
                        <a:defRPr/>
                      </a:pPr>
                      <a:r>
                        <a:rPr lang="en-US" altLang="ko-KR" sz="3200" b="1">
                          <a:solidFill>
                            <a:schemeClr val="tx1"/>
                          </a:solidFill>
                        </a:rPr>
                        <a:t>5</a:t>
                      </a:r>
                      <a:endParaRPr lang="en-US" altLang="ko-KR" sz="3200" b="1">
                        <a:solidFill>
                          <a:schemeClr val="tx1"/>
                        </a:solidFill>
                      </a:endParaRPr>
                    </a:p>
                  </a:txBody>
                  <a:tcPr marL="91440" marR="91440" anchor="ctr">
                    <a:lnL w="12700" cap="flat" cmpd="sng" algn="ctr">
                      <a:noFill/>
                      <a:prstDash val="solid"/>
                      <a:round/>
                    </a:lnL>
                    <a:lnR w="12700" cap="flat" cmpd="sng" algn="ctr">
                      <a:solidFill>
                        <a:schemeClr val="bg1">
                          <a:lumMod val="85000"/>
                        </a:schemeClr>
                      </a:solidFill>
                      <a:prstDash val="solid"/>
                      <a:round/>
                    </a:lnR>
                    <a:lnT w="12700" cap="flat" cmpd="sng" algn="ctr">
                      <a:noFill/>
                      <a:prstDash val="solid"/>
                      <a:round/>
                    </a:lnT>
                    <a:lnB w="12700" cap="flat" cmpd="sng" algn="ctr">
                      <a:noFill/>
                      <a:prstDash val="solid"/>
                      <a:round/>
                    </a:lnB>
                    <a:noFill/>
                  </a:tcPr>
                </a:tc>
                <a:tc>
                  <a:txBody>
                    <a:bodyPr vert="horz" lIns="91440" tIns="45720" rIns="91440" bIns="45720" anchor="ctr" anchorCtr="0"/>
                    <a:p>
                      <a:pPr algn="ctr" latinLnBrk="1">
                        <a:defRPr/>
                      </a:pPr>
                      <a:r>
                        <a:rPr lang="ko-KR" altLang="en-US" b="1">
                          <a:solidFill>
                            <a:schemeClr val="bg1"/>
                          </a:solidFill>
                        </a:rPr>
                        <a:t>데이터명</a:t>
                      </a:r>
                      <a:endParaRPr lang="ko-KR" altLang="en-US"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algn="just" latinLnBrk="1">
                        <a:defRPr/>
                      </a:pPr>
                      <a:r>
                        <a:rPr lang="ko-KR" altLang="en-US" sz="1300" b="1">
                          <a:solidFill>
                            <a:schemeClr val="tx1"/>
                          </a:solidFill>
                        </a:rPr>
                        <a:t>Firebase 및 프론트엔드 기술 스택</a:t>
                      </a:r>
                      <a:endParaRPr lang="ko-KR" altLang="en-US" sz="1300" b="1">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531298">
                <a:tc vMerge="1">
                  <a:txBody>
                    <a:bodyPr vert="horz" lIns="91440" tIns="45720" rIns="91440" bIns="45720" anchor="ctr" anchorCtr="0"/>
                    <a:p>
                      <a:pPr>
                        <a:defRPr/>
                      </a:pPr>
                      <a:endParaRPr lang="ko-KR" altLang="en-US"/>
                    </a:p>
                  </a:txBody>
                  <a:tcPr marL="91440" marR="91440" anchor="ctr">
                    <a:lnL w="12700" cap="flat" cmpd="sng" algn="ctr">
                      <a:noFill/>
                      <a:prstDash val="solid"/>
                      <a:round/>
                    </a:lnL>
                    <a:lnR w="12700" cap="flat" cmpd="sng" algn="ctr">
                      <a:solidFill>
                        <a:schemeClr val="bg1">
                          <a:lumMod val="85000"/>
                        </a:schemeClr>
                      </a:solidFill>
                      <a:prstDash val="solid"/>
                      <a:round/>
                    </a:lnR>
                    <a:lnT w="12700" cap="flat" cmpd="sng" algn="ctr">
                      <a:noFill/>
                      <a:prstDash val="solid"/>
                      <a:round/>
                    </a:lnT>
                    <a:lnB w="12700" cap="flat" cmpd="sng" algn="ctr">
                      <a:noFill/>
                      <a:prstDash val="solid"/>
                      <a:round/>
                    </a:lnB>
                    <a:noFill/>
                  </a:tcPr>
                </a:tc>
                <a:tc>
                  <a:txBody>
                    <a:bodyPr vert="horz" lIns="91440" tIns="45720" rIns="91440" bIns="45720" anchor="ctr" anchorCtr="0"/>
                    <a:p>
                      <a:pPr algn="ctr" latinLnBrk="1">
                        <a:defRPr/>
                      </a:pPr>
                      <a:r>
                        <a:rPr lang="ko-KR" altLang="en-US" b="1">
                          <a:solidFill>
                            <a:schemeClr val="bg1"/>
                          </a:solidFill>
                        </a:rPr>
                        <a:t>상세설명</a:t>
                      </a:r>
                      <a:endParaRPr lang="ko-KR" altLang="en-US"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a401"/>
                    </a:solidFill>
                  </a:tcPr>
                </a:tc>
                <a:tc>
                  <a:txBody>
                    <a:bodyPr vert="horz" lIns="91440" tIns="45720" rIns="91440" bIns="45720" anchor="ctr" anchorCtr="0"/>
                    <a:p>
                      <a:pPr algn="just" latinLnBrk="1">
                        <a:defRPr/>
                      </a:pPr>
                      <a:r>
                        <a:rPr lang="ko-KR" altLang="en-US" sz="1300" b="0">
                          <a:solidFill>
                            <a:schemeClr val="tx1"/>
                          </a:solidFill>
                        </a:rPr>
                        <a:t>Firebase Authentication, Realtime Database, </a:t>
                      </a:r>
                      <a:r>
                        <a:rPr lang="en-US" altLang="ko-KR" sz="1300" b="0">
                          <a:solidFill>
                            <a:schemeClr val="tx1"/>
                          </a:solidFill>
                        </a:rPr>
                        <a:t>Functions, Storage, </a:t>
                      </a:r>
                      <a:r>
                        <a:rPr lang="ko-KR" altLang="en-US" sz="1300" b="0">
                          <a:solidFill>
                            <a:schemeClr val="tx1"/>
                          </a:solidFill>
                        </a:rPr>
                        <a:t>Hosting은 로그인, 사용자 데이터 저장, 배포에 활용합니다. React, Vite, Tailwind CSS, Zustand는 화면 구성, 빌드, 스타일링, 상태 관리에 활용합니다.</a:t>
                      </a:r>
                      <a:endParaRPr lang="ko-KR" altLang="en-US" sz="1300" b="0">
                        <a:solidFill>
                          <a:schemeClr val="tx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timing>
    <p:tnLst>
      <p:par>
        <p:cTn id="1" dur="indefinite" restart="never" nodeType="tmRoot"/>
      </p:par>
    </p:tnLst>
  </p:timing>
</p:sld>
</file>

<file path=ppt/slides/slide1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graphicFrame>
        <p:nvGraphicFramePr>
          <p:cNvPr id="3" name="표 2"/>
          <p:cNvGraphicFramePr>
            <a:graphicFrameLocks noGrp="1"/>
          </p:cNvGraphicFramePr>
          <p:nvPr/>
        </p:nvGraphicFramePr>
        <p:xfrm>
          <a:off x="287250" y="1218429"/>
          <a:ext cx="11649825" cy="5074306"/>
        </p:xfrm>
        <a:graphic>
          <a:graphicData uri="http://schemas.openxmlformats.org/drawingml/2006/table">
            <a:tbl>
              <a:tblPr firstRow="1" bandRow="1">
                <a:tableStyleId>{5C22544A-7EE6-4342-B048-85BDC9FD1C3A}</a:tableStyleId>
              </a:tblPr>
              <a:tblGrid>
                <a:gridCol w="1955222"/>
                <a:gridCol w="9694603"/>
              </a:tblGrid>
              <a:tr h="2466075">
                <a:tc>
                  <a:txBody>
                    <a:bodyPr vert="horz" lIns="91440" tIns="45720" rIns="91440" bIns="45720" anchor="ctr" anchorCtr="0"/>
                    <a:p>
                      <a:pPr algn="ctr" latinLnBrk="1">
                        <a:defRPr/>
                      </a:pPr>
                      <a:r>
                        <a:rPr lang="ko-KR" altLang="en-US" b="1">
                          <a:solidFill>
                            <a:schemeClr val="bg1"/>
                          </a:solidFill>
                        </a:rPr>
                        <a:t>차별성</a:t>
                      </a:r>
                      <a:endParaRPr lang="en-US" altLang="ko-KR"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6f00"/>
                    </a:solidFill>
                  </a:tcPr>
                </a:tc>
                <a:tc>
                  <a:txBody>
                    <a:bodyPr vert="horz" lIns="91440" tIns="45720" rIns="91440" bIns="45720" anchor="ctr" anchorCtr="0"/>
                    <a:p>
                      <a:pPr lvl="0">
                        <a:lnSpc>
                          <a:spcPct val="150000"/>
                        </a:lnSpc>
                        <a:defRPr/>
                      </a:pPr>
                      <a:r>
                        <a:rPr lang="ko-KR" altLang="en-US" b="0">
                          <a:solidFill>
                            <a:srgbClr val="000000"/>
                          </a:solidFill>
                        </a:rPr>
                        <a:t>CodeTrip은 공공 관광데이터 기반 여행지 탐색부터 찜·폴더 저장, AI 일정 생성, 커뮤니티 공유까지를 하나의 여행 준비 흐름으로 연결합니다. 사용자가 저장한 장소와 여행 조건을 AI 코스 생성에 반영하고, 생성 결과는 JSON 구조로 관리하며 TourAPI 검증 장소와 AI 보조 추천 장소를 구분해 제공합니다. 이를 통해 단순 추천을 넘어, 사용자가 저장·검토·재생성할 수 있는 개인화 여행 계획 경험을 구현했습니다.</a:t>
                      </a:r>
                      <a:endParaRPr lang="ko-KR" altLang="en-US" b="0">
                        <a:solidFill>
                          <a:srgbClr val="000000"/>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r h="2608231">
                <a:tc>
                  <a:txBody>
                    <a:bodyPr vert="horz" lIns="91440" tIns="45720" rIns="91440" bIns="45720" anchor="ctr" anchorCtr="0"/>
                    <a:p>
                      <a:pPr algn="ctr" latinLnBrk="1">
                        <a:defRPr/>
                      </a:pPr>
                      <a:r>
                        <a:rPr lang="ko-KR" altLang="en-US" b="1">
                          <a:solidFill>
                            <a:schemeClr val="bg1"/>
                          </a:solidFill>
                        </a:rPr>
                        <a:t>발전계획</a:t>
                      </a:r>
                      <a:endParaRPr lang="ko-KR" altLang="en-US" b="1">
                        <a:solidFill>
                          <a:schemeClr val="bg1"/>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solidFill>
                      <a:srgbClr val="ff6f00"/>
                    </a:solidFill>
                  </a:tcPr>
                </a:tc>
                <a:tc>
                  <a:txBody>
                    <a:bodyPr vert="horz" lIns="91440" tIns="45720" rIns="91440" bIns="45720" anchor="ctr" anchorCtr="0"/>
                    <a:p>
                      <a:pPr lvl="0">
                        <a:lnSpc>
                          <a:spcPct val="150000"/>
                        </a:lnSpc>
                        <a:defRPr/>
                      </a:pPr>
                      <a:r>
                        <a:rPr lang="ko-KR" altLang="ko-KR">
                          <a:solidFill>
                            <a:srgbClr val="000000"/>
                          </a:solidFill>
                        </a:rPr>
                        <a:t>Gemini Functions 프록시, Firebase Rules 검증, 라우트 단위 코드 스플리팅과 CI 기반 lint·build·Functions·Rules·E2E 스모크 테스트를 적용해 서비스의 보안·성능·회귀 검증 기반을 마련했습니다.</a:t>
                      </a:r>
                      <a:endParaRPr lang="ko-KR" altLang="ko-KR">
                        <a:solidFill>
                          <a:srgbClr val="000000"/>
                        </a:solidFill>
                      </a:endParaRPr>
                    </a:p>
                    <a:p>
                      <a:pPr lvl="0">
                        <a:lnSpc>
                          <a:spcPct val="150000"/>
                        </a:lnSpc>
                        <a:defRPr/>
                      </a:pPr>
                      <a:r>
                        <a:rPr lang="ko-KR" altLang="ko-KR">
                          <a:solidFill>
                            <a:srgbClr val="000000"/>
                          </a:solidFill>
                        </a:rPr>
                        <a:t>향후에는 실제 사용 흐름을 바탕으로 저장·AI 코스 생성·재방문 지표를 관찰하고, TourAPI·날씨·AI 등 외부 API 장애 이력을 체계화하겠습니다. 이후 지역별 관광 데이터와 이용 패턴을 반영한 테마형 큐레이션으로 서비스를 고도화할 계획입니다.</a:t>
                      </a:r>
                      <a:endParaRPr lang="ko-KR" altLang="ko-KR">
                        <a:solidFill>
                          <a:srgbClr val="000000"/>
                        </a:solidFill>
                      </a:endParaRPr>
                    </a:p>
                  </a:txBody>
                  <a:tcPr marL="91440" marR="91440" anchor="ctr">
                    <a:lnL w="12700" cap="flat" cmpd="sng" algn="ctr">
                      <a:solidFill>
                        <a:schemeClr val="bg1">
                          <a:lumMod val="85000"/>
                        </a:schemeClr>
                      </a:solidFill>
                      <a:prstDash val="solid"/>
                      <a:round/>
                    </a:lnL>
                    <a:lnR w="12700" cap="flat" cmpd="sng" algn="ctr">
                      <a:solidFill>
                        <a:schemeClr val="bg1">
                          <a:lumMod val="85000"/>
                        </a:schemeClr>
                      </a:solidFill>
                      <a:prstDash val="solid"/>
                      <a:round/>
                    </a:lnR>
                    <a:lnT w="12700" cap="flat" cmpd="sng" algn="ctr">
                      <a:solidFill>
                        <a:schemeClr val="bg1">
                          <a:lumMod val="85000"/>
                        </a:schemeClr>
                      </a:solidFill>
                      <a:prstDash val="solid"/>
                      <a:round/>
                    </a:lnT>
                    <a:lnB w="12700" cap="flat" cmpd="sng" algn="ctr">
                      <a:solidFill>
                        <a:schemeClr val="bg1">
                          <a:lumMod val="85000"/>
                        </a:schemeClr>
                      </a:solidFill>
                      <a:prstDash val="solid"/>
                      <a:roun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p="http://schemas.openxmlformats.org/presentation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20"/>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20"/>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p="http://schemas.openxmlformats.org/presentation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20"/>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20"/>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
  <ep:Words>1457</ep:Words>
  <ep:PresentationFormat>와이드스크린</ep:PresentationFormat>
  <ep:Paragraphs>111</ep:Paragraphs>
  <ep:Slides>12</ep:Slides>
  <ep:Notes>0</ep:Notes>
  <ep:TotalTime>0</ep:TotalTime>
  <ep:HiddenSlides>0</ep:HiddenSlides>
  <ep:MMClips>0</ep:MMClips>
  <ep:HeadingPairs>
    <vt:vector size="4" baseType="variant">
      <vt:variant>
        <vt:lpstr>테마</vt:lpstr>
      </vt:variant>
      <vt:variant>
        <vt:i4>1</vt:i4>
      </vt:variant>
      <vt:variant>
        <vt:lpstr>슬라이드 제목</vt:lpstr>
      </vt:variant>
      <vt:variant>
        <vt:i4>12</vt:i4>
      </vt:variant>
    </vt:vector>
  </ep:HeadingPairs>
  <ep:TitlesOfParts>
    <vt:vector size="13" baseType="lpstr">
      <vt:lpstr>Office 테마</vt:lpstr>
      <vt:lpstr>슬라이드 1</vt:lpstr>
      <vt:lpstr>슬라이드 2</vt:lpstr>
      <vt:lpstr>슬라이드 3</vt:lpstr>
      <vt:lpstr>슬라이드 4</vt:lpstr>
      <vt:lpstr>슬라이드 5</vt:lpstr>
      <vt:lpstr>슬라이드 6</vt:lpstr>
      <vt:lpstr>슬라이드 7</vt:lpstr>
      <vt:lpstr>슬라이드 8</vt:lpstr>
      <vt:lpstr>슬라이드 9</vt:lpstr>
      <vt:lpstr>슬라이드 10</vt:lpstr>
      <vt:lpstr>슬라이드 11</vt:lpstr>
      <vt:lpstr>슬라이드 12</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2026-07-07T05:25:59.000</dcterms:created>
  <dc:creator>KTO</dc:creator>
  <cp:lastModifiedBy>polarbear</cp:lastModifiedBy>
  <dcterms:modified xsi:type="dcterms:W3CDTF">2026-09-18T09:53:36.410</dcterms:modified>
  <cp:revision>209</cp:revision>
  <dc:title>PowerPoint 프레젠테이션</dc:title>
  <cp:version>1000.0000.01</cp:version>
</cp:coreProperties>
</file>